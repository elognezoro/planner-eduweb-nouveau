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5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417320" cy="1417320"/>
          </a:xfrm>
          <a:prstGeom prst="ellipse">
            <a:avLst/>
          </a:prstGeom>
          <a:solidFill>
            <a:srgbClr val="60C090"/>
          </a:solidFill>
          <a:ln w="31750">
            <a:solidFill>
              <a:srgbClr val="F8B0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772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M0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2199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choix d'époque : Babel ou Jérusalem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Introduction §1-16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6E1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L'icône directrice de la formation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pPr algn="l"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pPr algn="l" indent="0" marL="0">
              <a:buNone/>
            </a:pP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&amp; ancrage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pPr algn="l"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pPr algn="l" indent="0" marL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(Bloom)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Énoncer les deux icônes bibliques.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Distinguer Babel de Néhémie.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Appliquer le critère à un usage d'IA.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5352" y="137160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385050"/>
          </a:solidFill>
          <a:ln/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73952" y="15179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Ancrage magistériel &amp; biblique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01168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§9 : bâtir Babel ou reconstruire Jérusalem — la technique n'est pas neutre.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§11-14 : édifier dans le bien.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Gn 11 · Ne 1–6 · Mt 25 · Ap 21,2.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L'essentiel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pPr algn="l"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pPr algn="l" indent="0" marL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⚠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Syndrome de Babel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Profit, uniformité, prétention à tout traduire en données (§10).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0392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🤝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0392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Voie de Néhémie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60392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Prier, écouter, confier un tronçon à chacun : responsabilité partagée (§8).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9536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9536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❓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79536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vrai choix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79536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 « oui/non » à l'IA, mais quel projet et quel style (§9).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Babel ou Jérusalem ?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pPr algn="l"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pPr algn="l" indent="0" marL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385050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371600"/>
            <a:ext cx="4882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BABEL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556891"/>
            <a:ext cx="109728" cy="1097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19456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Uniformité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391281"/>
            <a:ext cx="109728" cy="1097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02895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Autosuffisance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4225671"/>
            <a:ext cx="109728" cy="1097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386334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Efficacité avant la dignité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5060061"/>
            <a:ext cx="109728" cy="1097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69773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Dispersion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45352" y="13716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3E8B65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5352" y="1371600"/>
            <a:ext cx="5394960" cy="621792"/>
          </a:xfrm>
          <a:prstGeom prst="roundRect">
            <a:avLst>
              <a:gd name="adj" fmla="val 14706"/>
            </a:avLst>
          </a:prstGeom>
          <a:solidFill>
            <a:srgbClr val="3E8B6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1384" y="1371600"/>
            <a:ext cx="48828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JÉRUSALEM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519672" y="255689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48272" y="219456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Écoute &amp; silence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19672" y="339128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48272" y="302895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Responsabilité partagée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19672" y="422567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48272" y="386334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Personne au centre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19672" y="5060061"/>
            <a:ext cx="109728" cy="109728"/>
          </a:xfrm>
          <a:prstGeom prst="ellipse">
            <a:avLst/>
          </a:prstGeom>
          <a:solidFill>
            <a:srgbClr val="3E8B6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48272" y="4697730"/>
            <a:ext cx="46634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Fraternité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Activités d'apprentissage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pPr algn="l"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pPr algn="l" indent="0" marL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Lecture lente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Gn 11 &amp; Ne 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Dialog Cards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Babel vs Jérusalem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45352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Wooclap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 en direct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5352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Atelier 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Notre chantier »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Exercice-type &amp; à retenir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pPr algn="l" indent="0" marL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pPr algn="l" indent="0" marL="0">
              <a:buNone/>
            </a:pP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122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355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QCM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tour de Babel symbolise avant tout 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54203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4203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progrès technique en soi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300984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E4F4EC"/>
          </a:solidFill>
          <a:ln w="19050">
            <a:solidFill>
              <a:srgbClr val="60C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300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0098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Absolutiser l'humain, sacrifier la dignité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4059936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5993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L'ignorance scientifique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4818888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81888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1888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diversité des cultures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43800" y="1325880"/>
            <a:ext cx="4114800" cy="4343400"/>
          </a:xfrm>
          <a:prstGeom prst="roundRect">
            <a:avLst>
              <a:gd name="adj" fmla="val 2222"/>
            </a:avLst>
          </a:prstGeom>
          <a:solidFill>
            <a:srgbClr val="385050"/>
          </a:solidFill>
          <a:ln/>
          <a:effectLst>
            <a:outerShdw sx="100000" sy="100000" kx="0" ky="0" algn="bl" rotWithShape="0" blurRad="76200" dist="25400" dir="5400000">
              <a:srgbClr val="9BB4AE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0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RETENIR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1031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choix n'est pas « oui ou non » à l'IA, mais entre bâtir Babel ou reconstruire Jérusalem : responsabilité partagée et communion.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EduWeb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Formation Magnifica Humanitas</dc:subject>
  <dc:creator>EduWeb</dc:creator>
  <cp:lastModifiedBy>EduWeb</cp:lastModifiedBy>
  <cp:revision>1</cp:revision>
  <dcterms:created xsi:type="dcterms:W3CDTF">2026-08-27T16:25:57Z</dcterms:created>
  <dcterms:modified xsi:type="dcterms:W3CDTF">2026-08-27T16:25:57Z</dcterms:modified>
</cp:coreProperties>
</file>