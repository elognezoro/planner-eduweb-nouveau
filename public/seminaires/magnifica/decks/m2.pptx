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4" d="100"/>
          <a:sy n="74" d="100"/>
        </p:scale>
        <p:origin x="352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858459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850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777240"/>
            <a:ext cx="1417320" cy="1417320"/>
          </a:xfrm>
          <a:prstGeom prst="ellipse">
            <a:avLst/>
          </a:prstGeom>
          <a:solidFill>
            <a:srgbClr val="60C090"/>
          </a:solidFill>
          <a:ln w="31750">
            <a:solidFill>
              <a:srgbClr val="F8B04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40080" y="777240"/>
            <a:ext cx="141732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8F8F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M2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221992"/>
            <a:ext cx="10881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kern="0" spc="200" dirty="0">
                <a:solidFill>
                  <a:srgbClr val="F8B04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MODULE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788920"/>
            <a:ext cx="108813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8F8F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Opportunités de l'IA dans la vie civile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4160520"/>
            <a:ext cx="10881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i="1" dirty="0">
                <a:solidFill>
                  <a:srgbClr val="60C09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Chapitre 3 §90-101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470916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000" dirty="0">
                <a:solidFill>
                  <a:srgbClr val="B6E1C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« Une aide précieuse qui requiert de l'attention »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502920" y="63550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60C09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Edu</a:t>
            </a:r>
            <a:r>
              <a:rPr lang="en-US" sz="2000" b="1" dirty="0">
                <a:solidFill>
                  <a:srgbClr val="F8B04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</a:t>
            </a:r>
            <a:r>
              <a:rPr lang="en-US" sz="2000" b="1" dirty="0">
                <a:solidFill>
                  <a:srgbClr val="F8F8F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eb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9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38505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Objectifs &amp; ancrage</a:t>
            </a:r>
            <a:endParaRPr lang="en-US" sz="27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3550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60C09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Edu</a:t>
            </a:r>
            <a:r>
              <a:rPr lang="en-US" sz="2000" b="1" dirty="0">
                <a:solidFill>
                  <a:srgbClr val="F8B04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</a:t>
            </a:r>
            <a:r>
              <a:rPr lang="en-US" sz="2000" b="1" dirty="0">
                <a:solidFill>
                  <a:srgbClr val="38505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eb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5486400" cy="4251960"/>
          </a:xfrm>
          <a:prstGeom prst="roundRect">
            <a:avLst>
              <a:gd name="adj" fmla="val 2151"/>
            </a:avLst>
          </a:prstGeom>
          <a:solidFill>
            <a:srgbClr val="FFFFFF"/>
          </a:solidFill>
          <a:ln w="15875">
            <a:solidFill>
              <a:srgbClr val="B6E1CB"/>
            </a:solidFill>
            <a:prstDash val="solid"/>
          </a:ln>
          <a:effectLst>
            <a:outerShdw blurRad="76200" dist="25400" dir="5400000" algn="bl" rotWithShape="0">
              <a:srgbClr val="9BB4AE">
                <a:alpha val="3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77240" y="1517904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3E8B6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Objectifs (Bloom)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011680"/>
            <a:ext cx="498348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lnSpc>
                <a:spcPct val="100000"/>
              </a:lnSpc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23353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Énoncer les bénéfices pour le développement humain.</a:t>
            </a:r>
            <a:endParaRPr lang="en-US" sz="2000" dirty="0"/>
          </a:p>
          <a:p>
            <a:pPr marL="203200" indent="-203200">
              <a:lnSpc>
                <a:spcPct val="100000"/>
              </a:lnSpc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23353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Distinguer un bénéfice d'un « plus de puissance ».</a:t>
            </a:r>
            <a:endParaRPr lang="en-US" sz="2000" dirty="0"/>
          </a:p>
          <a:p>
            <a:pPr marL="203200" indent="-203200">
              <a:lnSpc>
                <a:spcPct val="100000"/>
              </a:lnSpc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23353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Poser les conditions d'un usage juste.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6245352" y="1371600"/>
            <a:ext cx="5394960" cy="4251960"/>
          </a:xfrm>
          <a:prstGeom prst="roundRect">
            <a:avLst>
              <a:gd name="adj" fmla="val 2151"/>
            </a:avLst>
          </a:prstGeom>
          <a:solidFill>
            <a:srgbClr val="385050"/>
          </a:solidFill>
          <a:ln/>
          <a:effectLst>
            <a:outerShdw blurRad="76200" dist="25400" dir="5400000" algn="bl" rotWithShape="0">
              <a:srgbClr val="9BB4AE">
                <a:alpha val="35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6473952" y="1517904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8B04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Ancrage magistériel &amp; biblique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6519672" y="2011680"/>
            <a:ext cx="489204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lnSpc>
                <a:spcPct val="100000"/>
              </a:lnSpc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F8F8F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§93 : « aide précieuse » ; « plus puissant ≠ meilleur ».</a:t>
            </a:r>
            <a:endParaRPr lang="en-US" sz="2000" dirty="0"/>
          </a:p>
          <a:p>
            <a:pPr marL="203200" indent="-203200">
              <a:lnSpc>
                <a:spcPct val="100000"/>
              </a:lnSpc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F8F8F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§100 : 3 vigilances (facilité, objectivité, relation simulée).</a:t>
            </a:r>
            <a:endParaRPr lang="en-US" sz="2000" dirty="0"/>
          </a:p>
          <a:p>
            <a:pPr marL="203200" indent="-203200">
              <a:lnSpc>
                <a:spcPct val="100000"/>
              </a:lnSpc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F8F8F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§101 : coût écologique (énergie, eau, CO₂).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9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38505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L'essentiel</a:t>
            </a:r>
            <a:endParaRPr lang="en-US" sz="27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3550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60C09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Edu</a:t>
            </a:r>
            <a:r>
              <a:rPr lang="en-US" sz="2000" b="1" dirty="0">
                <a:solidFill>
                  <a:srgbClr val="F8B04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</a:t>
            </a:r>
            <a:r>
              <a:rPr lang="en-US" sz="2000" b="1" dirty="0">
                <a:solidFill>
                  <a:srgbClr val="38505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eb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453384" cy="3840480"/>
          </a:xfrm>
          <a:prstGeom prst="roundRect">
            <a:avLst>
              <a:gd name="adj" fmla="val 2648"/>
            </a:avLst>
          </a:prstGeom>
          <a:solidFill>
            <a:srgbClr val="FFFFFF"/>
          </a:solidFill>
          <a:ln w="15875">
            <a:solidFill>
              <a:srgbClr val="B6E1CB"/>
            </a:solidFill>
            <a:prstDash val="solid"/>
          </a:ln>
          <a:effectLst>
            <a:outerShdw blurRad="76200" dist="25400" dir="5400000" algn="bl" rotWithShape="0">
              <a:srgbClr val="9BB4AE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41248" y="1645920"/>
            <a:ext cx="658368" cy="658368"/>
          </a:xfrm>
          <a:prstGeom prst="ellipse">
            <a:avLst/>
          </a:prstGeom>
          <a:solidFill>
            <a:srgbClr val="60C09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41248" y="1645920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8F8F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🩺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841248" y="2423160"/>
            <a:ext cx="28681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60C09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Bénéfices réels</a:t>
            </a:r>
            <a:endParaRPr lang="en-US" sz="2100" dirty="0"/>
          </a:p>
        </p:txBody>
      </p:sp>
      <p:sp>
        <p:nvSpPr>
          <p:cNvPr id="8" name="Text 6"/>
          <p:cNvSpPr txBox="1"/>
          <p:nvPr/>
        </p:nvSpPr>
        <p:spPr>
          <a:xfrm>
            <a:off x="841248" y="2944368"/>
            <a:ext cx="2904744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2000" dirty="0">
                <a:solidFill>
                  <a:srgbClr val="23353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Soigner, relier, éduquer ; soulager les tâches pénibles (§9,§152).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4367784" y="1371600"/>
            <a:ext cx="3453384" cy="3840480"/>
          </a:xfrm>
          <a:prstGeom prst="roundRect">
            <a:avLst>
              <a:gd name="adj" fmla="val 2648"/>
            </a:avLst>
          </a:prstGeom>
          <a:solidFill>
            <a:srgbClr val="FFFFFF"/>
          </a:solidFill>
          <a:ln w="15875">
            <a:solidFill>
              <a:srgbClr val="B6E1CB"/>
            </a:solidFill>
            <a:prstDash val="solid"/>
          </a:ln>
          <a:effectLst>
            <a:outerShdw blurRad="76200" dist="25400" dir="5400000" algn="bl" rotWithShape="0">
              <a:srgbClr val="9BB4AE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60392" y="1645920"/>
            <a:ext cx="658368" cy="658368"/>
          </a:xfrm>
          <a:prstGeom prst="ellipse">
            <a:avLst/>
          </a:prstGeom>
          <a:solidFill>
            <a:srgbClr val="F8B040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660392" y="1645920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8F8F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🔎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4660392" y="2423160"/>
            <a:ext cx="28681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8B04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 vigilances</a:t>
            </a:r>
            <a:endParaRPr lang="en-US" sz="2100" dirty="0"/>
          </a:p>
        </p:txBody>
      </p:sp>
      <p:sp>
        <p:nvSpPr>
          <p:cNvPr id="13" name="Text 11"/>
          <p:cNvSpPr txBox="1"/>
          <p:nvPr/>
        </p:nvSpPr>
        <p:spPr>
          <a:xfrm>
            <a:off x="4660392" y="2944368"/>
            <a:ext cx="2904744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2000" dirty="0">
                <a:solidFill>
                  <a:srgbClr val="23353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Facilité, objectivité illusoire, relation simulée (§100).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8186928" y="1371600"/>
            <a:ext cx="3453384" cy="3840480"/>
          </a:xfrm>
          <a:prstGeom prst="roundRect">
            <a:avLst>
              <a:gd name="adj" fmla="val 2648"/>
            </a:avLst>
          </a:prstGeom>
          <a:solidFill>
            <a:srgbClr val="FFFFFF"/>
          </a:solidFill>
          <a:ln w="15875">
            <a:solidFill>
              <a:srgbClr val="B6E1CB"/>
            </a:solidFill>
            <a:prstDash val="solid"/>
          </a:ln>
          <a:effectLst>
            <a:outerShdw blurRad="76200" dist="25400" dir="5400000" algn="bl" rotWithShape="0">
              <a:srgbClr val="9BB4AE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479536" y="1645920"/>
            <a:ext cx="658368" cy="658368"/>
          </a:xfrm>
          <a:prstGeom prst="ellipse">
            <a:avLst/>
          </a:prstGeom>
          <a:solidFill>
            <a:srgbClr val="F8B040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479536" y="1645920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8F8F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🌍</a:t>
            </a:r>
            <a:endParaRPr lang="en-US" sz="2400" dirty="0"/>
          </a:p>
        </p:txBody>
      </p:sp>
      <p:sp>
        <p:nvSpPr>
          <p:cNvPr id="17" name="Text 15"/>
          <p:cNvSpPr txBox="1"/>
          <p:nvPr/>
        </p:nvSpPr>
        <p:spPr>
          <a:xfrm>
            <a:off x="8479536" y="2423160"/>
            <a:ext cx="28681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8B04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Écologie</a:t>
            </a:r>
            <a:endParaRPr lang="en-US" sz="2100" dirty="0"/>
          </a:p>
        </p:txBody>
      </p:sp>
      <p:sp>
        <p:nvSpPr>
          <p:cNvPr id="18" name="Text 16"/>
          <p:cNvSpPr txBox="1"/>
          <p:nvPr/>
        </p:nvSpPr>
        <p:spPr>
          <a:xfrm>
            <a:off x="8479536" y="2944368"/>
            <a:ext cx="2904744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2000" dirty="0">
                <a:solidFill>
                  <a:srgbClr val="23353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Énergie, eau, CO₂ : viser la sobriété (§101).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9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38505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Domaines d'opportunité &amp; règle d'or</a:t>
            </a:r>
            <a:endParaRPr lang="en-US" sz="27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960120"/>
            <a:ext cx="11064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3E8B6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Un bénéfice n'est réel que s'il sert la personne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63550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60C09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Edu</a:t>
            </a:r>
            <a:r>
              <a:rPr lang="en-US" sz="2000" b="1" dirty="0">
                <a:solidFill>
                  <a:srgbClr val="F8B04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</a:t>
            </a:r>
            <a:r>
              <a:rPr lang="en-US" sz="2000" b="1" dirty="0">
                <a:solidFill>
                  <a:srgbClr val="38505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eb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11091672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5875">
            <a:solidFill>
              <a:srgbClr val="B6E1CB"/>
            </a:solidFill>
            <a:prstDash val="solid"/>
          </a:ln>
          <a:effectLst>
            <a:outerShdw blurRad="76200" dist="25400" dir="5400000" algn="bl" rotWithShape="0">
              <a:srgbClr val="9BB4AE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545336"/>
            <a:ext cx="566928" cy="566928"/>
          </a:xfrm>
          <a:prstGeom prst="ellipse">
            <a:avLst/>
          </a:prstGeom>
          <a:solidFill>
            <a:srgbClr val="385050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31520" y="1545336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8B04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1463040" y="1417320"/>
            <a:ext cx="99943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3E8B6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Santé &amp; inclusion  </a:t>
            </a:r>
            <a:r>
              <a:rPr lang="en-US" sz="2000" dirty="0">
                <a:solidFill>
                  <a:srgbClr val="23353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diagnostic, accessibilité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548640" y="2404872"/>
            <a:ext cx="11091672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5875">
            <a:solidFill>
              <a:srgbClr val="B6E1CB"/>
            </a:solidFill>
            <a:prstDash val="solid"/>
          </a:ln>
          <a:effectLst>
            <a:outerShdw blurRad="76200" dist="25400" dir="5400000" algn="bl" rotWithShape="0">
              <a:srgbClr val="9BB4AE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31520" y="2532888"/>
            <a:ext cx="566928" cy="566928"/>
          </a:xfrm>
          <a:prstGeom prst="ellipse">
            <a:avLst/>
          </a:prstGeom>
          <a:solidFill>
            <a:srgbClr val="385050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31520" y="253288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8B04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1463040" y="2404872"/>
            <a:ext cx="99943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3E8B6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Éducation  </a:t>
            </a:r>
            <a:r>
              <a:rPr lang="en-US" sz="2000" dirty="0">
                <a:solidFill>
                  <a:srgbClr val="23353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personnalisation, remédiation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548640" y="3392424"/>
            <a:ext cx="11091672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5875">
            <a:solidFill>
              <a:srgbClr val="B6E1CB"/>
            </a:solidFill>
            <a:prstDash val="solid"/>
          </a:ln>
          <a:effectLst>
            <a:outerShdw blurRad="76200" dist="25400" dir="5400000" algn="bl" rotWithShape="0">
              <a:srgbClr val="9BB4AE">
                <a:alpha val="3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31520" y="3520440"/>
            <a:ext cx="566928" cy="566928"/>
          </a:xfrm>
          <a:prstGeom prst="ellipse">
            <a:avLst/>
          </a:prstGeom>
          <a:solidFill>
            <a:srgbClr val="385050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31520" y="352044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8B04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1463040" y="3392424"/>
            <a:ext cx="99943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3E8B6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Services &amp; recherche  </a:t>
            </a:r>
            <a:r>
              <a:rPr lang="en-US" sz="2000" dirty="0">
                <a:solidFill>
                  <a:srgbClr val="23353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administration, climat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548640" y="4379976"/>
            <a:ext cx="11091672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5875">
            <a:solidFill>
              <a:srgbClr val="B6E1CB"/>
            </a:solidFill>
            <a:prstDash val="solid"/>
          </a:ln>
          <a:effectLst>
            <a:outerShdw blurRad="76200" dist="25400" dir="5400000" algn="bl" rotWithShape="0">
              <a:srgbClr val="9BB4AE">
                <a:alpha val="3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731520" y="4507992"/>
            <a:ext cx="566928" cy="566928"/>
          </a:xfrm>
          <a:prstGeom prst="ellipse">
            <a:avLst/>
          </a:prstGeom>
          <a:solidFill>
            <a:srgbClr val="385050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731520" y="4507992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8B04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2000" dirty="0"/>
          </a:p>
        </p:txBody>
      </p:sp>
      <p:sp>
        <p:nvSpPr>
          <p:cNvPr id="20" name="Text 18"/>
          <p:cNvSpPr txBox="1"/>
          <p:nvPr/>
        </p:nvSpPr>
        <p:spPr>
          <a:xfrm>
            <a:off x="1463040" y="4379976"/>
            <a:ext cx="99943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3E8B6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Règle d'or  </a:t>
            </a:r>
            <a:r>
              <a:rPr lang="en-US" sz="2000" dirty="0">
                <a:solidFill>
                  <a:srgbClr val="23353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sert la personne · responsable · sobre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9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38505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Activités d'apprentissage</a:t>
            </a:r>
            <a:endParaRPr lang="en-US" sz="27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3550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60C09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Edu</a:t>
            </a:r>
            <a:r>
              <a:rPr lang="en-US" sz="2000" b="1" dirty="0">
                <a:solidFill>
                  <a:srgbClr val="F8B04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</a:t>
            </a:r>
            <a:r>
              <a:rPr lang="en-US" sz="2000" b="1" dirty="0">
                <a:solidFill>
                  <a:srgbClr val="38505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eb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39496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5875">
            <a:solidFill>
              <a:srgbClr val="B6E1CB"/>
            </a:solidFill>
            <a:prstDash val="solid"/>
          </a:ln>
          <a:effectLst>
            <a:outerShdw blurRad="76200" dist="25400" dir="5400000" algn="bl" rotWithShape="0">
              <a:srgbClr val="9BB4AE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613916"/>
            <a:ext cx="566928" cy="566928"/>
          </a:xfrm>
          <a:prstGeom prst="ellipse">
            <a:avLst/>
          </a:prstGeom>
          <a:solidFill>
            <a:srgbClr val="38505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1613916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8B04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463040" y="1417320"/>
            <a:ext cx="42976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3E8B6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Étude de cas  </a:t>
            </a:r>
            <a:r>
              <a:rPr lang="en-US" sz="2000" dirty="0">
                <a:solidFill>
                  <a:srgbClr val="23353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 cas + grille DSE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548640" y="2542032"/>
            <a:ext cx="539496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5875">
            <a:solidFill>
              <a:srgbClr val="B6E1CB"/>
            </a:solidFill>
            <a:prstDash val="solid"/>
          </a:ln>
          <a:effectLst>
            <a:outerShdw blurRad="76200" dist="25400" dir="5400000" algn="bl" rotWithShape="0">
              <a:srgbClr val="9BB4AE">
                <a:alpha val="3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31520" y="2738628"/>
            <a:ext cx="566928" cy="566928"/>
          </a:xfrm>
          <a:prstGeom prst="ellipse">
            <a:avLst/>
          </a:prstGeom>
          <a:solidFill>
            <a:srgbClr val="385050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31520" y="273862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8B04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1463040" y="2542032"/>
            <a:ext cx="42976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3E8B6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Kahoot!  </a:t>
            </a:r>
            <a:br>
              <a:rPr lang="en-US" sz="2000" b="1" dirty="0">
                <a:solidFill>
                  <a:srgbClr val="3E8B6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</a:br>
            <a:r>
              <a:rPr lang="en-US" sz="2000" dirty="0">
                <a:solidFill>
                  <a:srgbClr val="23353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« Opportunité ou mirage ? »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6245352" y="1417320"/>
            <a:ext cx="539496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5875">
            <a:solidFill>
              <a:srgbClr val="B6E1CB"/>
            </a:solidFill>
            <a:prstDash val="solid"/>
          </a:ln>
          <a:effectLst>
            <a:outerShdw blurRad="76200" dist="25400" dir="5400000" algn="bl" rotWithShape="0">
              <a:srgbClr val="9BB4AE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428232" y="1613916"/>
            <a:ext cx="566928" cy="566928"/>
          </a:xfrm>
          <a:prstGeom prst="ellipse">
            <a:avLst/>
          </a:prstGeom>
          <a:solidFill>
            <a:srgbClr val="385050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28232" y="1613916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8B04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7159752" y="1417320"/>
            <a:ext cx="42976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3E8B6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Atelier  </a:t>
            </a:r>
            <a:r>
              <a:rPr lang="en-US" sz="2000" dirty="0">
                <a:solidFill>
                  <a:srgbClr val="23353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bilan écologique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6245352" y="2542032"/>
            <a:ext cx="539496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5875">
            <a:solidFill>
              <a:srgbClr val="B6E1CB"/>
            </a:solidFill>
            <a:prstDash val="solid"/>
          </a:ln>
          <a:effectLst>
            <a:outerShdw blurRad="76200" dist="25400" dir="5400000" algn="bl" rotWithShape="0">
              <a:srgbClr val="9BB4AE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428232" y="2738628"/>
            <a:ext cx="566928" cy="566928"/>
          </a:xfrm>
          <a:prstGeom prst="ellipse">
            <a:avLst/>
          </a:prstGeom>
          <a:solidFill>
            <a:srgbClr val="385050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428232" y="273862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8B04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7159752" y="2542032"/>
            <a:ext cx="42976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3E8B6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H5P  </a:t>
            </a:r>
            <a:r>
              <a:rPr lang="en-US" sz="2000" dirty="0">
                <a:solidFill>
                  <a:srgbClr val="23353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les 3 vigilances</a:t>
            </a:r>
            <a:endParaRPr lang="en-US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9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38505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Exercice-type &amp; à retenir</a:t>
            </a:r>
            <a:endParaRPr lang="en-US" sz="27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3550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60C09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Edu</a:t>
            </a:r>
            <a:r>
              <a:rPr lang="en-US" sz="2000" b="1" dirty="0">
                <a:solidFill>
                  <a:srgbClr val="F8B04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</a:t>
            </a:r>
            <a:r>
              <a:rPr lang="en-US" sz="2000" b="1" dirty="0">
                <a:solidFill>
                  <a:srgbClr val="38505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eb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6812280" cy="434340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5875">
            <a:solidFill>
              <a:srgbClr val="B6E1CB"/>
            </a:solidFill>
            <a:prstDash val="solid"/>
          </a:ln>
          <a:effectLst>
            <a:outerShdw blurRad="76200" dist="25400" dir="5400000" algn="bl" rotWithShape="0">
              <a:srgbClr val="9BB4AE">
                <a:alpha val="3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77240" y="1481328"/>
            <a:ext cx="63550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F8B04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QCM  </a:t>
            </a:r>
            <a:r>
              <a:rPr lang="en-US" sz="2000" b="1" dirty="0">
                <a:solidFill>
                  <a:srgbClr val="23353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L'« impression d'objectivité » est risquée car (§100) :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77240" y="2542032"/>
            <a:ext cx="6355080" cy="658368"/>
          </a:xfrm>
          <a:prstGeom prst="roundRect">
            <a:avLst>
              <a:gd name="adj" fmla="val 8333"/>
            </a:avLst>
          </a:prstGeom>
          <a:solidFill>
            <a:srgbClr val="E4F4EC"/>
          </a:solidFill>
          <a:ln w="19050">
            <a:solidFill>
              <a:srgbClr val="60C09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96112" y="2542032"/>
            <a:ext cx="411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3E8B6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✓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1371600" y="2542032"/>
            <a:ext cx="5669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3353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Elle masque les biais des concepteurs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777240" y="3300984"/>
            <a:ext cx="6355080" cy="658368"/>
          </a:xfrm>
          <a:prstGeom prst="roundRect">
            <a:avLst>
              <a:gd name="adj" fmla="val 8333"/>
            </a:avLst>
          </a:prstGeom>
          <a:solidFill>
            <a:srgbClr val="F3F6F5"/>
          </a:solidFill>
          <a:ln w="12700">
            <a:solidFill>
              <a:srgbClr val="D9E2E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96112" y="3300984"/>
            <a:ext cx="411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5B6B6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○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1371600" y="3300984"/>
            <a:ext cx="5669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23353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Les IA sont toujours fausses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777240" y="4059936"/>
            <a:ext cx="6355080" cy="658368"/>
          </a:xfrm>
          <a:prstGeom prst="roundRect">
            <a:avLst>
              <a:gd name="adj" fmla="val 8333"/>
            </a:avLst>
          </a:prstGeom>
          <a:solidFill>
            <a:srgbClr val="F3F6F5"/>
          </a:solidFill>
          <a:ln w="12700">
            <a:solidFill>
              <a:srgbClr val="D9E2E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96112" y="4059936"/>
            <a:ext cx="411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5B6B6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○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1371600" y="4059936"/>
            <a:ext cx="5669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23353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L'objectivité est un défaut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777240" y="4818888"/>
            <a:ext cx="6355080" cy="658368"/>
          </a:xfrm>
          <a:prstGeom prst="roundRect">
            <a:avLst>
              <a:gd name="adj" fmla="val 8333"/>
            </a:avLst>
          </a:prstGeom>
          <a:solidFill>
            <a:srgbClr val="F3F6F5"/>
          </a:solidFill>
          <a:ln w="12700">
            <a:solidFill>
              <a:srgbClr val="D9E2E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96112" y="4818888"/>
            <a:ext cx="411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5B6B6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○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1371600" y="4818888"/>
            <a:ext cx="5669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23353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Les IA ne répondent jamais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7543800" y="1325880"/>
            <a:ext cx="4114800" cy="4343400"/>
          </a:xfrm>
          <a:prstGeom prst="roundRect">
            <a:avLst>
              <a:gd name="adj" fmla="val 2222"/>
            </a:avLst>
          </a:prstGeom>
          <a:solidFill>
            <a:srgbClr val="385050"/>
          </a:solidFill>
          <a:ln/>
          <a:effectLst>
            <a:outerShdw blurRad="76200" dist="25400" dir="5400000" algn="bl" rotWithShape="0">
              <a:srgbClr val="9BB4AE">
                <a:alpha val="35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7772400" y="1536192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kern="0" spc="200" dirty="0">
                <a:solidFill>
                  <a:srgbClr val="F8B04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À RETENIR</a:t>
            </a:r>
            <a:endParaRPr lang="en-US" sz="2000" dirty="0"/>
          </a:p>
        </p:txBody>
      </p:sp>
      <p:sp>
        <p:nvSpPr>
          <p:cNvPr id="20" name="Text 18"/>
          <p:cNvSpPr txBox="1"/>
          <p:nvPr/>
        </p:nvSpPr>
        <p:spPr>
          <a:xfrm>
            <a:off x="7772400" y="2103120"/>
            <a:ext cx="365760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F8F8F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L'IA est une aide précieuse, mais « plus puissant ≠ meilleur ». Un usage juste sert la personne, reste responsable et sobre.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297</Words>
  <Application>Microsoft Office PowerPoint</Application>
  <PresentationFormat>Grand écran</PresentationFormat>
  <Paragraphs>67</Paragraphs>
  <Slides>6</Slides>
  <Notes>6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6</vt:i4>
      </vt:variant>
    </vt:vector>
  </HeadingPairs>
  <TitlesOfParts>
    <vt:vector size="9" baseType="lpstr">
      <vt:lpstr>Arial</vt:lpstr>
      <vt:lpstr>Century Gothic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EduWeb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Formation Magnifica Humanitas</dc:subject>
  <dc:creator>EduWeb</dc:creator>
  <cp:lastModifiedBy>Elogne ZORO</cp:lastModifiedBy>
  <cp:revision>2</cp:revision>
  <dcterms:created xsi:type="dcterms:W3CDTF">2026-08-27T16:25:58Z</dcterms:created>
  <dcterms:modified xsi:type="dcterms:W3CDTF">2026-08-27T16:47:03Z</dcterms:modified>
</cp:coreProperties>
</file>