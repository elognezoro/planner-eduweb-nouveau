
<file path=[Content_Types].xml><?xml version="1.0" encoding="utf-8"?>
<Types xmlns="http://schemas.openxmlformats.org/package/2006/content-types"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35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060753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850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EduWeb-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3984" y="685800"/>
            <a:ext cx="3291840" cy="16459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40080" y="2404872"/>
            <a:ext cx="10881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kern="0" spc="200" dirty="0">
                <a:solidFill>
                  <a:srgbClr val="F8B04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SUPPORT DE FORMATION</a:t>
            </a:r>
            <a:endParaRPr lang="en-US" sz="20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2971800"/>
            <a:ext cx="108813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8F8F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Préserver l'humain à l'ère de l'IA</a:t>
            </a:r>
            <a:endParaRPr lang="en-US" sz="34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4343400"/>
            <a:ext cx="10881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i="1" dirty="0">
                <a:solidFill>
                  <a:srgbClr val="60C09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d'après l'encyclique Magnifica Humanitas</a:t>
            </a:r>
            <a:endParaRPr lang="en-US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489204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2000" dirty="0">
                <a:solidFill>
                  <a:srgbClr val="B6E1C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Léon XIV — 15 mai 2026 · Introduction générale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502920" y="63550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60C09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Edu</a:t>
            </a:r>
            <a:r>
              <a:rPr lang="en-US" sz="2000" b="1" dirty="0">
                <a:solidFill>
                  <a:srgbClr val="F8B04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</a:t>
            </a:r>
            <a:r>
              <a:rPr lang="en-US" sz="2000" b="1" dirty="0">
                <a:solidFill>
                  <a:srgbClr val="F8F8F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eb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9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38505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Pourquoi cette formation ?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3550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60C09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Edu</a:t>
            </a:r>
            <a:r>
              <a:rPr lang="en-US" sz="2000" b="1" dirty="0">
                <a:solidFill>
                  <a:srgbClr val="F8B04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</a:t>
            </a:r>
            <a:r>
              <a:rPr lang="en-US" sz="2000" b="1" dirty="0">
                <a:solidFill>
                  <a:srgbClr val="38505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eb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453384" cy="4069080"/>
          </a:xfrm>
          <a:prstGeom prst="roundRect">
            <a:avLst>
              <a:gd name="adj" fmla="val 2648"/>
            </a:avLst>
          </a:prstGeom>
          <a:solidFill>
            <a:srgbClr val="FFFFFF"/>
          </a:solidFill>
          <a:ln w="15875">
            <a:solidFill>
              <a:srgbClr val="B6E1CB"/>
            </a:solidFill>
            <a:prstDash val="solid"/>
          </a:ln>
          <a:effectLst>
            <a:outerShdw blurRad="76200" dist="25400" dir="5400000" algn="bl" rotWithShape="0">
              <a:srgbClr val="9BB4AE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41248" y="1645920"/>
            <a:ext cx="658368" cy="658368"/>
          </a:xfrm>
          <a:prstGeom prst="ellipse">
            <a:avLst/>
          </a:prstGeom>
          <a:solidFill>
            <a:srgbClr val="60C09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41248" y="1645920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8F8F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📜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841248" y="2423160"/>
            <a:ext cx="28681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60C09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 texte fondateur</a:t>
            </a:r>
            <a:endParaRPr lang="en-US" sz="2100" dirty="0"/>
          </a:p>
        </p:txBody>
      </p:sp>
      <p:sp>
        <p:nvSpPr>
          <p:cNvPr id="8" name="Text 6"/>
          <p:cNvSpPr txBox="1"/>
          <p:nvPr/>
        </p:nvSpPr>
        <p:spPr>
          <a:xfrm>
            <a:off x="841248" y="2944368"/>
            <a:ext cx="2904744" cy="2331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2000" dirty="0">
                <a:solidFill>
                  <a:srgbClr val="23353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1re encyclique de Léon XIV (15 mai 2026), pour les 135 ans de Rerum novarum : 1er grand texte pontifical sur l'IA.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4367784" y="1371600"/>
            <a:ext cx="3453384" cy="4069080"/>
          </a:xfrm>
          <a:prstGeom prst="roundRect">
            <a:avLst>
              <a:gd name="adj" fmla="val 2648"/>
            </a:avLst>
          </a:prstGeom>
          <a:solidFill>
            <a:srgbClr val="FFFFFF"/>
          </a:solidFill>
          <a:ln w="15875">
            <a:solidFill>
              <a:srgbClr val="B6E1CB"/>
            </a:solidFill>
            <a:prstDash val="solid"/>
          </a:ln>
          <a:effectLst>
            <a:outerShdw blurRad="76200" dist="25400" dir="5400000" algn="bl" rotWithShape="0">
              <a:srgbClr val="9BB4AE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0392" y="1645920"/>
            <a:ext cx="658368" cy="658368"/>
          </a:xfrm>
          <a:prstGeom prst="ellipse">
            <a:avLst/>
          </a:prstGeom>
          <a:solidFill>
            <a:srgbClr val="F8B04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660392" y="1645920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8F8F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🏫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4660392" y="2423160"/>
            <a:ext cx="28681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8B04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L'école interpellée</a:t>
            </a:r>
            <a:endParaRPr lang="en-US" sz="2100" dirty="0"/>
          </a:p>
        </p:txBody>
      </p:sp>
      <p:sp>
        <p:nvSpPr>
          <p:cNvPr id="13" name="Text 11"/>
          <p:cNvSpPr txBox="1"/>
          <p:nvPr/>
        </p:nvSpPr>
        <p:spPr>
          <a:xfrm>
            <a:off x="4660392" y="2944368"/>
            <a:ext cx="2904744" cy="2331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2000" dirty="0">
                <a:solidFill>
                  <a:srgbClr val="23353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Elle appelle à une « alliance éducative renouvelée » (§147) et fait de l'école le lieu où l'on aime la vérité (§143).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8186928" y="1371600"/>
            <a:ext cx="3453384" cy="4069080"/>
          </a:xfrm>
          <a:prstGeom prst="roundRect">
            <a:avLst>
              <a:gd name="adj" fmla="val 2648"/>
            </a:avLst>
          </a:prstGeom>
          <a:solidFill>
            <a:srgbClr val="FFFFFF"/>
          </a:solidFill>
          <a:ln w="15875">
            <a:solidFill>
              <a:srgbClr val="B6E1CB"/>
            </a:solidFill>
            <a:prstDash val="solid"/>
          </a:ln>
          <a:effectLst>
            <a:outerShdw blurRad="76200" dist="25400" dir="5400000" algn="bl" rotWithShape="0">
              <a:srgbClr val="9BB4AE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479536" y="1645920"/>
            <a:ext cx="658368" cy="658368"/>
          </a:xfrm>
          <a:prstGeom prst="ellipse">
            <a:avLst/>
          </a:prstGeom>
          <a:solidFill>
            <a:srgbClr val="60C090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479536" y="1645920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8F8F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🧭</a:t>
            </a:r>
            <a:endParaRPr lang="en-US" sz="2400" dirty="0"/>
          </a:p>
        </p:txBody>
      </p:sp>
      <p:sp>
        <p:nvSpPr>
          <p:cNvPr id="17" name="Text 15"/>
          <p:cNvSpPr txBox="1"/>
          <p:nvPr/>
        </p:nvSpPr>
        <p:spPr>
          <a:xfrm>
            <a:off x="8479536" y="2423160"/>
            <a:ext cx="28681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60C09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Notre responsabilité</a:t>
            </a:r>
            <a:endParaRPr lang="en-US" sz="2100" dirty="0"/>
          </a:p>
        </p:txBody>
      </p:sp>
      <p:sp>
        <p:nvSpPr>
          <p:cNvPr id="18" name="Text 16"/>
          <p:cNvSpPr txBox="1"/>
          <p:nvPr/>
        </p:nvSpPr>
        <p:spPr>
          <a:xfrm>
            <a:off x="8479536" y="2944368"/>
            <a:ext cx="2904744" cy="2331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2000" dirty="0">
                <a:solidFill>
                  <a:srgbClr val="23353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Non des « spectateurs résignés » mais des bâtisseurs (§241) : discerner, décider, positionner l'école.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9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38505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L'icône directrice : Babel ou Jérusalem ?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960120"/>
            <a:ext cx="11064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3E8B6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Magnifica Humanitas §7-10 — le fil rouge du parcours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3550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60C09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Edu</a:t>
            </a:r>
            <a:r>
              <a:rPr lang="en-US" sz="2000" b="1" dirty="0">
                <a:solidFill>
                  <a:srgbClr val="F8B04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</a:t>
            </a:r>
            <a:r>
              <a:rPr lang="en-US" sz="2000" b="1" dirty="0">
                <a:solidFill>
                  <a:srgbClr val="38505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eb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5394960" cy="4297680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15875">
            <a:solidFill>
              <a:srgbClr val="385050"/>
            </a:solidFill>
            <a:prstDash val="solid"/>
          </a:ln>
          <a:effectLst>
            <a:outerShdw blurRad="76200" dist="25400" dir="5400000" algn="bl" rotWithShape="0">
              <a:srgbClr val="9BB4AE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371600"/>
            <a:ext cx="5394960" cy="621792"/>
          </a:xfrm>
          <a:prstGeom prst="roundRect">
            <a:avLst>
              <a:gd name="adj" fmla="val 14706"/>
            </a:avLst>
          </a:prstGeom>
          <a:solidFill>
            <a:srgbClr val="38505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04672" y="1371600"/>
            <a:ext cx="488289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8F8F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BABEL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822960" y="2473452"/>
            <a:ext cx="109728" cy="109728"/>
          </a:xfrm>
          <a:prstGeom prst="ellipse">
            <a:avLst/>
          </a:prstGeom>
          <a:solidFill>
            <a:srgbClr val="38505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051560" y="2194560"/>
            <a:ext cx="466344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23353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Domination &amp; puissance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822960" y="3140964"/>
            <a:ext cx="109728" cy="109728"/>
          </a:xfrm>
          <a:prstGeom prst="ellipse">
            <a:avLst/>
          </a:prstGeom>
          <a:solidFill>
            <a:srgbClr val="38505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051560" y="2862072"/>
            <a:ext cx="466344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23353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Uniformité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822960" y="3808476"/>
            <a:ext cx="109728" cy="109728"/>
          </a:xfrm>
          <a:prstGeom prst="ellipse">
            <a:avLst/>
          </a:prstGeom>
          <a:solidFill>
            <a:srgbClr val="38505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051560" y="3529584"/>
            <a:ext cx="466344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23353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Autosuffisance &amp; orgueil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822960" y="4475988"/>
            <a:ext cx="109728" cy="109728"/>
          </a:xfrm>
          <a:prstGeom prst="ellipse">
            <a:avLst/>
          </a:prstGeom>
          <a:solidFill>
            <a:srgbClr val="385050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051560" y="4197096"/>
            <a:ext cx="466344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23353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Tout réduire en données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822960" y="5143500"/>
            <a:ext cx="109728" cy="109728"/>
          </a:xfrm>
          <a:prstGeom prst="ellipse">
            <a:avLst/>
          </a:prstGeom>
          <a:solidFill>
            <a:srgbClr val="385050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1051560" y="4864608"/>
            <a:ext cx="466344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23353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→ déshumanisation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6245352" y="1371600"/>
            <a:ext cx="5394960" cy="4297680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15875">
            <a:solidFill>
              <a:srgbClr val="3E8B65"/>
            </a:solidFill>
            <a:prstDash val="solid"/>
          </a:ln>
          <a:effectLst>
            <a:outerShdw blurRad="76200" dist="25400" dir="5400000" algn="bl" rotWithShape="0">
              <a:srgbClr val="9BB4AE">
                <a:alpha val="3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245352" y="1371600"/>
            <a:ext cx="5394960" cy="621792"/>
          </a:xfrm>
          <a:prstGeom prst="roundRect">
            <a:avLst>
              <a:gd name="adj" fmla="val 14706"/>
            </a:avLst>
          </a:prstGeom>
          <a:solidFill>
            <a:srgbClr val="3E8B65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501384" y="1371600"/>
            <a:ext cx="488289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8F8F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JÉRUSALEM (Néhémie)</a:t>
            </a:r>
            <a:endParaRPr lang="en-US" sz="2100" dirty="0"/>
          </a:p>
        </p:txBody>
      </p:sp>
      <p:sp>
        <p:nvSpPr>
          <p:cNvPr id="21" name="Shape 19"/>
          <p:cNvSpPr/>
          <p:nvPr/>
        </p:nvSpPr>
        <p:spPr>
          <a:xfrm>
            <a:off x="6519672" y="2473452"/>
            <a:ext cx="109728" cy="109728"/>
          </a:xfrm>
          <a:prstGeom prst="ellipse">
            <a:avLst/>
          </a:prstGeom>
          <a:solidFill>
            <a:srgbClr val="3E8B65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748272" y="2194560"/>
            <a:ext cx="466344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23353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Écoute &amp; silence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6519672" y="3140964"/>
            <a:ext cx="109728" cy="109728"/>
          </a:xfrm>
          <a:prstGeom prst="ellipse">
            <a:avLst/>
          </a:prstGeom>
          <a:solidFill>
            <a:srgbClr val="3E8B65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748272" y="2862072"/>
            <a:ext cx="466344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23353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Responsabilité partagée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6519672" y="3808476"/>
            <a:ext cx="109728" cy="109728"/>
          </a:xfrm>
          <a:prstGeom prst="ellipse">
            <a:avLst/>
          </a:prstGeom>
          <a:solidFill>
            <a:srgbClr val="3E8B65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748272" y="3529584"/>
            <a:ext cx="466344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23353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Communion dans la diversité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6519672" y="4475988"/>
            <a:ext cx="109728" cy="109728"/>
          </a:xfrm>
          <a:prstGeom prst="ellipse">
            <a:avLst/>
          </a:prstGeom>
          <a:solidFill>
            <a:srgbClr val="3E8B65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748272" y="4197096"/>
            <a:ext cx="466344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23353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 personne au centre</a:t>
            </a:r>
            <a:endParaRPr lang="en-US" sz="2000" dirty="0"/>
          </a:p>
        </p:txBody>
      </p:sp>
      <p:sp>
        <p:nvSpPr>
          <p:cNvPr id="29" name="Shape 27"/>
          <p:cNvSpPr/>
          <p:nvPr/>
        </p:nvSpPr>
        <p:spPr>
          <a:xfrm>
            <a:off x="6519672" y="5143500"/>
            <a:ext cx="109728" cy="109728"/>
          </a:xfrm>
          <a:prstGeom prst="ellipse">
            <a:avLst/>
          </a:prstGeom>
          <a:solidFill>
            <a:srgbClr val="3E8B65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6748272" y="4864608"/>
            <a:ext cx="466344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23353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→ justice &amp; fraternité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9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38505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Objectifs : 6 compétences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3550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60C09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Edu</a:t>
            </a:r>
            <a:r>
              <a:rPr lang="en-US" sz="2000" b="1" dirty="0">
                <a:solidFill>
                  <a:srgbClr val="F8B04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</a:t>
            </a:r>
            <a:r>
              <a:rPr lang="en-US" sz="2000" b="1" dirty="0">
                <a:solidFill>
                  <a:srgbClr val="38505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eb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3453384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5875">
            <a:solidFill>
              <a:srgbClr val="B6E1CB"/>
            </a:solidFill>
            <a:prstDash val="solid"/>
          </a:ln>
          <a:effectLst>
            <a:outerShdw blurRad="76200" dist="25400" dir="5400000" algn="bl" rotWithShape="0">
              <a:srgbClr val="9BB4AE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755648"/>
            <a:ext cx="731520" cy="731520"/>
          </a:xfrm>
          <a:prstGeom prst="ellipse">
            <a:avLst/>
          </a:prstGeom>
          <a:solidFill>
            <a:srgbClr val="60C09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1755648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8F8F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691640" y="1773936"/>
            <a:ext cx="21732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8505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DSE &amp; icônes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691640" y="2249424"/>
            <a:ext cx="217322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23353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relier principes et usages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4367784" y="1463040"/>
            <a:ext cx="3453384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5875">
            <a:solidFill>
              <a:srgbClr val="B6E1CB"/>
            </a:solidFill>
            <a:prstDash val="solid"/>
          </a:ln>
          <a:effectLst>
            <a:outerShdw blurRad="76200" dist="25400" dir="5400000" algn="bl" rotWithShape="0">
              <a:srgbClr val="9BB4AE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42104" y="1755648"/>
            <a:ext cx="731520" cy="731520"/>
          </a:xfrm>
          <a:prstGeom prst="ellipse">
            <a:avLst/>
          </a:prstGeom>
          <a:solidFill>
            <a:srgbClr val="60C09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642104" y="1755648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8F8F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C2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5510784" y="1773936"/>
            <a:ext cx="21732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8505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Ce qu'est l'IA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5510784" y="2249424"/>
            <a:ext cx="217322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23353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primauté de la personne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8186928" y="1463040"/>
            <a:ext cx="3453384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5875">
            <a:solidFill>
              <a:srgbClr val="B6E1CB"/>
            </a:solidFill>
            <a:prstDash val="solid"/>
          </a:ln>
          <a:effectLst>
            <a:outerShdw blurRad="76200" dist="25400" dir="5400000" algn="bl" rotWithShape="0">
              <a:srgbClr val="9BB4AE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461248" y="1755648"/>
            <a:ext cx="731520" cy="731520"/>
          </a:xfrm>
          <a:prstGeom prst="ellipse">
            <a:avLst/>
          </a:prstGeom>
          <a:solidFill>
            <a:srgbClr val="60C090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461248" y="1755648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8F8F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C3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9329928" y="1773936"/>
            <a:ext cx="21732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8505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Opportunités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9329928" y="2249424"/>
            <a:ext cx="217322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23353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évaluer un usage juste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548640" y="3749040"/>
            <a:ext cx="3453384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5875">
            <a:solidFill>
              <a:srgbClr val="B6E1CB"/>
            </a:solidFill>
            <a:prstDash val="solid"/>
          </a:ln>
          <a:effectLst>
            <a:outerShdw blurRad="76200" dist="25400" dir="5400000" algn="bl" rotWithShape="0">
              <a:srgbClr val="9BB4AE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22960" y="4041648"/>
            <a:ext cx="731520" cy="731520"/>
          </a:xfrm>
          <a:prstGeom prst="ellipse">
            <a:avLst/>
          </a:prstGeom>
          <a:solidFill>
            <a:srgbClr val="F8B040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22960" y="4041648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8F8F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C4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1691640" y="4059936"/>
            <a:ext cx="21732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8505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Alertes</a:t>
            </a:r>
            <a:endParaRPr lang="en-US" sz="2000" dirty="0"/>
          </a:p>
        </p:txBody>
      </p:sp>
      <p:sp>
        <p:nvSpPr>
          <p:cNvPr id="23" name="Text 21"/>
          <p:cNvSpPr txBox="1"/>
          <p:nvPr/>
        </p:nvSpPr>
        <p:spPr>
          <a:xfrm>
            <a:off x="1691640" y="4535424"/>
            <a:ext cx="217322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23353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 critère de discernement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4367784" y="3749040"/>
            <a:ext cx="3453384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5875">
            <a:solidFill>
              <a:srgbClr val="B6E1CB"/>
            </a:solidFill>
            <a:prstDash val="solid"/>
          </a:ln>
          <a:effectLst>
            <a:outerShdw blurRad="76200" dist="25400" dir="5400000" algn="bl" rotWithShape="0">
              <a:srgbClr val="9BB4AE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42104" y="4041648"/>
            <a:ext cx="731520" cy="731520"/>
          </a:xfrm>
          <a:prstGeom prst="ellipse">
            <a:avLst/>
          </a:prstGeom>
          <a:solidFill>
            <a:srgbClr val="F8B040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642104" y="4041648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8F8F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C5</a:t>
            </a:r>
            <a:endParaRPr lang="en-US" sz="2000" dirty="0"/>
          </a:p>
        </p:txBody>
      </p:sp>
      <p:sp>
        <p:nvSpPr>
          <p:cNvPr id="27" name="Text 25"/>
          <p:cNvSpPr txBox="1"/>
          <p:nvPr/>
        </p:nvSpPr>
        <p:spPr>
          <a:xfrm>
            <a:off x="5510784" y="4059936"/>
            <a:ext cx="21732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8505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Pédagogie</a:t>
            </a:r>
            <a:endParaRPr lang="en-US" sz="2000" dirty="0"/>
          </a:p>
        </p:txBody>
      </p:sp>
      <p:sp>
        <p:nvSpPr>
          <p:cNvPr id="28" name="Text 26"/>
          <p:cNvSpPr txBox="1"/>
          <p:nvPr/>
        </p:nvSpPr>
        <p:spPr>
          <a:xfrm>
            <a:off x="5510784" y="4535424"/>
            <a:ext cx="217322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23353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 usage critique</a:t>
            </a:r>
            <a:endParaRPr lang="en-US" sz="2000" dirty="0"/>
          </a:p>
        </p:txBody>
      </p:sp>
      <p:sp>
        <p:nvSpPr>
          <p:cNvPr id="29" name="Shape 27"/>
          <p:cNvSpPr/>
          <p:nvPr/>
        </p:nvSpPr>
        <p:spPr>
          <a:xfrm>
            <a:off x="8186928" y="3749040"/>
            <a:ext cx="3453384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5875">
            <a:solidFill>
              <a:srgbClr val="B6E1CB"/>
            </a:solidFill>
            <a:prstDash val="solid"/>
          </a:ln>
          <a:effectLst>
            <a:outerShdw blurRad="76200" dist="25400" dir="5400000" algn="bl" rotWithShape="0">
              <a:srgbClr val="9BB4AE">
                <a:alpha val="3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461248" y="4041648"/>
            <a:ext cx="731520" cy="731520"/>
          </a:xfrm>
          <a:prstGeom prst="ellipse">
            <a:avLst/>
          </a:prstGeom>
          <a:solidFill>
            <a:srgbClr val="F8B040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8461248" y="4041648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8F8F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C6</a:t>
            </a:r>
            <a:endParaRPr lang="en-US" sz="2000" dirty="0"/>
          </a:p>
        </p:txBody>
      </p:sp>
      <p:sp>
        <p:nvSpPr>
          <p:cNvPr id="32" name="Text 30"/>
          <p:cNvSpPr txBox="1"/>
          <p:nvPr/>
        </p:nvSpPr>
        <p:spPr>
          <a:xfrm>
            <a:off x="9329928" y="4059936"/>
            <a:ext cx="21732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8505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Gouvernance</a:t>
            </a:r>
            <a:endParaRPr lang="en-US" sz="2000" dirty="0"/>
          </a:p>
        </p:txBody>
      </p:sp>
      <p:sp>
        <p:nvSpPr>
          <p:cNvPr id="33" name="Text 31"/>
          <p:cNvSpPr txBox="1"/>
          <p:nvPr/>
        </p:nvSpPr>
        <p:spPr>
          <a:xfrm>
            <a:off x="9329928" y="4535424"/>
            <a:ext cx="217322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23353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charte + plan d'action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9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38505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Architecture : 8 modules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3550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60C09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Edu</a:t>
            </a:r>
            <a:r>
              <a:rPr lang="en-US" sz="2000" b="1" dirty="0">
                <a:solidFill>
                  <a:srgbClr val="F8B04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</a:t>
            </a:r>
            <a:r>
              <a:rPr lang="en-US" sz="2000" b="1" dirty="0">
                <a:solidFill>
                  <a:srgbClr val="38505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eb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2532888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5875">
            <a:solidFill>
              <a:srgbClr val="B6E1CB"/>
            </a:solidFill>
            <a:prstDash val="solid"/>
          </a:ln>
          <a:effectLst>
            <a:outerShdw blurRad="76200" dist="25400" dir="5400000" algn="bl" rotWithShape="0">
              <a:srgbClr val="9BB4AE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68096" y="1591056"/>
            <a:ext cx="658368" cy="658368"/>
          </a:xfrm>
          <a:prstGeom prst="ellipse">
            <a:avLst/>
          </a:prstGeom>
          <a:solidFill>
            <a:srgbClr val="60C09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68096" y="159105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8F8F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M0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768096" y="2331720"/>
            <a:ext cx="2093976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23353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Babel ou Jérusalem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401568" y="1371600"/>
            <a:ext cx="2532888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5875">
            <a:solidFill>
              <a:srgbClr val="B6E1CB"/>
            </a:solidFill>
            <a:prstDash val="solid"/>
          </a:ln>
          <a:effectLst>
            <a:outerShdw blurRad="76200" dist="25400" dir="5400000" algn="bl" rotWithShape="0">
              <a:srgbClr val="9BB4AE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21024" y="1591056"/>
            <a:ext cx="658368" cy="658368"/>
          </a:xfrm>
          <a:prstGeom prst="ellipse">
            <a:avLst/>
          </a:prstGeom>
          <a:solidFill>
            <a:srgbClr val="60C09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621024" y="159105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8F8F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M1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3621024" y="2331720"/>
            <a:ext cx="2093976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23353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Dignité de la personne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6254496" y="1371600"/>
            <a:ext cx="2532888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5875">
            <a:solidFill>
              <a:srgbClr val="B6E1CB"/>
            </a:solidFill>
            <a:prstDash val="solid"/>
          </a:ln>
          <a:effectLst>
            <a:outerShdw blurRad="76200" dist="25400" dir="5400000" algn="bl" rotWithShape="0">
              <a:srgbClr val="9BB4AE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73952" y="1591056"/>
            <a:ext cx="658368" cy="658368"/>
          </a:xfrm>
          <a:prstGeom prst="ellipse">
            <a:avLst/>
          </a:prstGeom>
          <a:solidFill>
            <a:srgbClr val="60C09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73952" y="159105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8F8F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M2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6473952" y="2331720"/>
            <a:ext cx="2093976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23353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Opportunités civiles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9107424" y="1371600"/>
            <a:ext cx="2532888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5875">
            <a:solidFill>
              <a:srgbClr val="B6E1CB"/>
            </a:solidFill>
            <a:prstDash val="solid"/>
          </a:ln>
          <a:effectLst>
            <a:outerShdw blurRad="76200" dist="25400" dir="5400000" algn="bl" rotWithShape="0">
              <a:srgbClr val="9BB4AE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9326880" y="1591056"/>
            <a:ext cx="658368" cy="658368"/>
          </a:xfrm>
          <a:prstGeom prst="ellipse">
            <a:avLst/>
          </a:prstGeom>
          <a:solidFill>
            <a:srgbClr val="60C090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326880" y="159105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8F8F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M3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9326880" y="2331720"/>
            <a:ext cx="2093976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23353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Gouvernance &amp; alertes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548640" y="3703320"/>
            <a:ext cx="2532888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5875">
            <a:solidFill>
              <a:srgbClr val="B6E1CB"/>
            </a:solidFill>
            <a:prstDash val="solid"/>
          </a:ln>
          <a:effectLst>
            <a:outerShdw blurRad="76200" dist="25400" dir="5400000" algn="bl" rotWithShape="0">
              <a:srgbClr val="9BB4AE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68096" y="3922776"/>
            <a:ext cx="658368" cy="658368"/>
          </a:xfrm>
          <a:prstGeom prst="ellipse">
            <a:avLst/>
          </a:prstGeom>
          <a:solidFill>
            <a:srgbClr val="60C090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68096" y="392277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8F8F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M4</a:t>
            </a:r>
            <a:endParaRPr lang="en-US" sz="2000" dirty="0"/>
          </a:p>
        </p:txBody>
      </p:sp>
      <p:sp>
        <p:nvSpPr>
          <p:cNvPr id="23" name="Text 21"/>
          <p:cNvSpPr txBox="1"/>
          <p:nvPr/>
        </p:nvSpPr>
        <p:spPr>
          <a:xfrm>
            <a:off x="768096" y="4663440"/>
            <a:ext cx="2093976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23353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IA &amp; éducation ★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3401568" y="3703320"/>
            <a:ext cx="2532888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5875">
            <a:solidFill>
              <a:srgbClr val="B6E1CB"/>
            </a:solidFill>
            <a:prstDash val="solid"/>
          </a:ln>
          <a:effectLst>
            <a:outerShdw blurRad="76200" dist="25400" dir="5400000" algn="bl" rotWithShape="0">
              <a:srgbClr val="9BB4AE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621024" y="3922776"/>
            <a:ext cx="658368" cy="658368"/>
          </a:xfrm>
          <a:prstGeom prst="ellipse">
            <a:avLst/>
          </a:prstGeom>
          <a:solidFill>
            <a:srgbClr val="60C090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3621024" y="392277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8F8F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M5</a:t>
            </a:r>
            <a:endParaRPr lang="en-US" sz="2000" dirty="0"/>
          </a:p>
        </p:txBody>
      </p:sp>
      <p:sp>
        <p:nvSpPr>
          <p:cNvPr id="27" name="Text 25"/>
          <p:cNvSpPr txBox="1"/>
          <p:nvPr/>
        </p:nvSpPr>
        <p:spPr>
          <a:xfrm>
            <a:off x="3621024" y="4663440"/>
            <a:ext cx="2093976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23353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Travail &amp; liberté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6254496" y="3703320"/>
            <a:ext cx="2532888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5875">
            <a:solidFill>
              <a:srgbClr val="B6E1CB"/>
            </a:solidFill>
            <a:prstDash val="solid"/>
          </a:ln>
          <a:effectLst>
            <a:outerShdw blurRad="76200" dist="25400" dir="5400000" algn="bl" rotWithShape="0">
              <a:srgbClr val="9BB4AE">
                <a:alpha val="3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473952" y="3922776"/>
            <a:ext cx="658368" cy="658368"/>
          </a:xfrm>
          <a:prstGeom prst="ellipse">
            <a:avLst/>
          </a:prstGeom>
          <a:solidFill>
            <a:srgbClr val="60C090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6473952" y="392277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8F8F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M6</a:t>
            </a:r>
            <a:endParaRPr lang="en-US" sz="2000" dirty="0"/>
          </a:p>
        </p:txBody>
      </p:sp>
      <p:sp>
        <p:nvSpPr>
          <p:cNvPr id="31" name="Text 29"/>
          <p:cNvSpPr txBox="1"/>
          <p:nvPr/>
        </p:nvSpPr>
        <p:spPr>
          <a:xfrm>
            <a:off x="6473952" y="4663440"/>
            <a:ext cx="2093976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23353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Paix &amp; armes</a:t>
            </a:r>
            <a:endParaRPr lang="en-US" sz="2000" dirty="0"/>
          </a:p>
        </p:txBody>
      </p:sp>
      <p:sp>
        <p:nvSpPr>
          <p:cNvPr id="32" name="Shape 30"/>
          <p:cNvSpPr/>
          <p:nvPr/>
        </p:nvSpPr>
        <p:spPr>
          <a:xfrm>
            <a:off x="9107424" y="3703320"/>
            <a:ext cx="2532888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5875">
            <a:solidFill>
              <a:srgbClr val="B6E1CB"/>
            </a:solidFill>
            <a:prstDash val="solid"/>
          </a:ln>
          <a:effectLst>
            <a:outerShdw blurRad="76200" dist="25400" dir="5400000" algn="bl" rotWithShape="0">
              <a:srgbClr val="9BB4AE">
                <a:alpha val="3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9326880" y="3922776"/>
            <a:ext cx="658368" cy="658368"/>
          </a:xfrm>
          <a:prstGeom prst="ellipse">
            <a:avLst/>
          </a:prstGeom>
          <a:solidFill>
            <a:srgbClr val="60C090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9326880" y="392277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8F8F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M7</a:t>
            </a:r>
            <a:endParaRPr lang="en-US" sz="2000" dirty="0"/>
          </a:p>
        </p:txBody>
      </p:sp>
      <p:sp>
        <p:nvSpPr>
          <p:cNvPr id="35" name="Text 33"/>
          <p:cNvSpPr txBox="1"/>
          <p:nvPr/>
        </p:nvSpPr>
        <p:spPr>
          <a:xfrm>
            <a:off x="9326880" y="4663440"/>
            <a:ext cx="2093976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23353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Doctrine → action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9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38505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Démarche pédagogique &amp; outils LMS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3550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60C09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Edu</a:t>
            </a:r>
            <a:r>
              <a:rPr lang="en-US" sz="2000" b="1" dirty="0">
                <a:solidFill>
                  <a:srgbClr val="F8B04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</a:t>
            </a:r>
            <a:r>
              <a:rPr lang="en-US" sz="2000" b="1" dirty="0">
                <a:solidFill>
                  <a:srgbClr val="38505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eb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39496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5875">
            <a:solidFill>
              <a:srgbClr val="B6E1CB"/>
            </a:solidFill>
            <a:prstDash val="solid"/>
          </a:ln>
          <a:effectLst>
            <a:outerShdw blurRad="76200" dist="25400" dir="5400000" algn="bl" rotWithShape="0">
              <a:srgbClr val="9BB4AE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568196"/>
            <a:ext cx="566928" cy="566928"/>
          </a:xfrm>
          <a:prstGeom prst="ellipse">
            <a:avLst/>
          </a:prstGeom>
          <a:solidFill>
            <a:srgbClr val="38505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56819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8B04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1417320"/>
            <a:ext cx="439429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3E8B6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Bloom  </a:t>
            </a:r>
            <a:br>
              <a:rPr lang="en-US" sz="2000" b="1" dirty="0">
                <a:solidFill>
                  <a:srgbClr val="3E8B6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</a:br>
            <a:r>
              <a:rPr lang="en-US" sz="2000" dirty="0" err="1">
                <a:solidFill>
                  <a:srgbClr val="23353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objectifs</a:t>
            </a:r>
            <a:r>
              <a:rPr lang="en-US" sz="2000" dirty="0">
                <a:solidFill>
                  <a:srgbClr val="23353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 → activités → </a:t>
            </a:r>
            <a:r>
              <a:rPr lang="en-US" sz="2000" dirty="0" err="1">
                <a:solidFill>
                  <a:srgbClr val="23353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évaluation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548640" y="2450592"/>
            <a:ext cx="539496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5875">
            <a:solidFill>
              <a:srgbClr val="B6E1CB"/>
            </a:solidFill>
            <a:prstDash val="solid"/>
          </a:ln>
          <a:effectLst>
            <a:outerShdw blurRad="76200" dist="25400" dir="5400000" algn="bl" rotWithShape="0">
              <a:srgbClr val="9BB4AE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31520" y="2601468"/>
            <a:ext cx="566928" cy="566928"/>
          </a:xfrm>
          <a:prstGeom prst="ellipse">
            <a:avLst/>
          </a:prstGeom>
          <a:solidFill>
            <a:srgbClr val="38505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31520" y="260146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8B04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1463040" y="2450592"/>
            <a:ext cx="4297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3E8B6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SAMR  </a:t>
            </a:r>
            <a:r>
              <a:rPr lang="en-US" sz="2000" dirty="0">
                <a:solidFill>
                  <a:srgbClr val="23353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graduer le numérique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548640" y="3483864"/>
            <a:ext cx="539496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5875">
            <a:solidFill>
              <a:srgbClr val="B6E1CB"/>
            </a:solidFill>
            <a:prstDash val="solid"/>
          </a:ln>
          <a:effectLst>
            <a:outerShdw blurRad="76200" dist="25400" dir="5400000" algn="bl" rotWithShape="0">
              <a:srgbClr val="9BB4AE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31520" y="3634740"/>
            <a:ext cx="566928" cy="566928"/>
          </a:xfrm>
          <a:prstGeom prst="ellipse">
            <a:avLst/>
          </a:prstGeom>
          <a:solidFill>
            <a:srgbClr val="38505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31520" y="363474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8B04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1463040" y="3483864"/>
            <a:ext cx="4297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3E8B6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Sobriété  </a:t>
            </a:r>
            <a:r>
              <a:rPr lang="en-US" sz="2000" dirty="0">
                <a:solidFill>
                  <a:srgbClr val="23353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temps hors-écran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548640" y="4517136"/>
            <a:ext cx="539496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5875">
            <a:solidFill>
              <a:srgbClr val="B6E1CB"/>
            </a:solidFill>
            <a:prstDash val="solid"/>
          </a:ln>
          <a:effectLst>
            <a:outerShdw blurRad="76200" dist="25400" dir="5400000" algn="bl" rotWithShape="0">
              <a:srgbClr val="9BB4AE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31520" y="4668012"/>
            <a:ext cx="566928" cy="566928"/>
          </a:xfrm>
          <a:prstGeom prst="ellipse">
            <a:avLst/>
          </a:prstGeom>
          <a:solidFill>
            <a:srgbClr val="385050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31520" y="466801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8B04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1463040" y="4517136"/>
            <a:ext cx="4297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3E8B6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Learning by design  </a:t>
            </a:r>
            <a:r>
              <a:rPr lang="en-US" sz="2000" dirty="0">
                <a:solidFill>
                  <a:srgbClr val="23353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l'apprenant produit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6245352" y="1417320"/>
            <a:ext cx="539496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5875">
            <a:solidFill>
              <a:srgbClr val="B6E1CB"/>
            </a:solidFill>
            <a:prstDash val="solid"/>
          </a:ln>
          <a:effectLst>
            <a:outerShdw blurRad="76200" dist="25400" dir="5400000" algn="bl" rotWithShape="0">
              <a:srgbClr val="9BB4AE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428232" y="1568196"/>
            <a:ext cx="566928" cy="566928"/>
          </a:xfrm>
          <a:prstGeom prst="ellipse">
            <a:avLst/>
          </a:prstGeom>
          <a:solidFill>
            <a:srgbClr val="385050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428232" y="156819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8B04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2000" dirty="0"/>
          </a:p>
        </p:txBody>
      </p:sp>
      <p:sp>
        <p:nvSpPr>
          <p:cNvPr id="23" name="Text 21"/>
          <p:cNvSpPr txBox="1"/>
          <p:nvPr/>
        </p:nvSpPr>
        <p:spPr>
          <a:xfrm>
            <a:off x="7159752" y="1417320"/>
            <a:ext cx="4297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3E8B6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Moodle  </a:t>
            </a:r>
            <a:r>
              <a:rPr lang="en-US" sz="2000" dirty="0">
                <a:solidFill>
                  <a:srgbClr val="23353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tests, atelier, badges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6245352" y="2450592"/>
            <a:ext cx="539496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5875">
            <a:solidFill>
              <a:srgbClr val="B6E1CB"/>
            </a:solidFill>
            <a:prstDash val="solid"/>
          </a:ln>
          <a:effectLst>
            <a:outerShdw blurRad="76200" dist="25400" dir="5400000" algn="bl" rotWithShape="0">
              <a:srgbClr val="9BB4AE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428232" y="2601468"/>
            <a:ext cx="566928" cy="566928"/>
          </a:xfrm>
          <a:prstGeom prst="ellipse">
            <a:avLst/>
          </a:prstGeom>
          <a:solidFill>
            <a:srgbClr val="385050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428232" y="260146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8B04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2000" dirty="0"/>
          </a:p>
        </p:txBody>
      </p:sp>
      <p:sp>
        <p:nvSpPr>
          <p:cNvPr id="27" name="Text 25"/>
          <p:cNvSpPr txBox="1"/>
          <p:nvPr/>
        </p:nvSpPr>
        <p:spPr>
          <a:xfrm>
            <a:off x="7159752" y="2450592"/>
            <a:ext cx="4297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3E8B6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H5P  </a:t>
            </a:r>
            <a:r>
              <a:rPr lang="en-US" sz="2000" dirty="0">
                <a:solidFill>
                  <a:srgbClr val="23353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vidéo, drag &amp; drop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6245352" y="3483864"/>
            <a:ext cx="539496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5875">
            <a:solidFill>
              <a:srgbClr val="B6E1CB"/>
            </a:solidFill>
            <a:prstDash val="solid"/>
          </a:ln>
          <a:effectLst>
            <a:outerShdw blurRad="76200" dist="25400" dir="5400000" algn="bl" rotWithShape="0">
              <a:srgbClr val="9BB4AE">
                <a:alpha val="3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428232" y="3634740"/>
            <a:ext cx="566928" cy="566928"/>
          </a:xfrm>
          <a:prstGeom prst="ellipse">
            <a:avLst/>
          </a:prstGeom>
          <a:solidFill>
            <a:srgbClr val="385050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6428232" y="363474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8B04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2000" dirty="0"/>
          </a:p>
        </p:txBody>
      </p:sp>
      <p:sp>
        <p:nvSpPr>
          <p:cNvPr id="31" name="Text 29"/>
          <p:cNvSpPr txBox="1"/>
          <p:nvPr/>
        </p:nvSpPr>
        <p:spPr>
          <a:xfrm>
            <a:off x="7159752" y="3483864"/>
            <a:ext cx="4297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3E8B6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Wooclap / Kahoot!  </a:t>
            </a:r>
            <a:r>
              <a:rPr lang="en-US" sz="2000" dirty="0">
                <a:solidFill>
                  <a:srgbClr val="23353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jeux-quiz en direct</a:t>
            </a:r>
            <a:endParaRPr lang="en-US" sz="2000" dirty="0"/>
          </a:p>
        </p:txBody>
      </p:sp>
      <p:sp>
        <p:nvSpPr>
          <p:cNvPr id="32" name="Shape 30"/>
          <p:cNvSpPr/>
          <p:nvPr/>
        </p:nvSpPr>
        <p:spPr>
          <a:xfrm>
            <a:off x="6245352" y="4517136"/>
            <a:ext cx="539496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5875">
            <a:solidFill>
              <a:srgbClr val="B6E1CB"/>
            </a:solidFill>
            <a:prstDash val="solid"/>
          </a:ln>
          <a:effectLst>
            <a:outerShdw blurRad="76200" dist="25400" dir="5400000" algn="bl" rotWithShape="0">
              <a:srgbClr val="9BB4AE">
                <a:alpha val="3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428232" y="4668012"/>
            <a:ext cx="566928" cy="566928"/>
          </a:xfrm>
          <a:prstGeom prst="ellipse">
            <a:avLst/>
          </a:prstGeom>
          <a:solidFill>
            <a:srgbClr val="385050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6428232" y="466801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8B04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2000" dirty="0"/>
          </a:p>
        </p:txBody>
      </p:sp>
      <p:sp>
        <p:nvSpPr>
          <p:cNvPr id="35" name="Text 33"/>
          <p:cNvSpPr txBox="1"/>
          <p:nvPr/>
        </p:nvSpPr>
        <p:spPr>
          <a:xfrm>
            <a:off x="7159752" y="4517136"/>
            <a:ext cx="4297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3E8B6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Genially  </a:t>
            </a:r>
            <a:r>
              <a:rPr lang="en-US" sz="2000" dirty="0">
                <a:solidFill>
                  <a:srgbClr val="23353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escape games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9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38505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Opportunités &amp; alertes (aperçu)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3550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60C09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Edu</a:t>
            </a:r>
            <a:r>
              <a:rPr lang="en-US" sz="2000" b="1" dirty="0">
                <a:solidFill>
                  <a:srgbClr val="F8B04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</a:t>
            </a:r>
            <a:r>
              <a:rPr lang="en-US" sz="2000" b="1" dirty="0">
                <a:solidFill>
                  <a:srgbClr val="38505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eb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394960" cy="4297680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15875">
            <a:solidFill>
              <a:srgbClr val="3E8B65"/>
            </a:solidFill>
            <a:prstDash val="solid"/>
          </a:ln>
          <a:effectLst>
            <a:outerShdw blurRad="76200" dist="25400" dir="5400000" algn="bl" rotWithShape="0">
              <a:srgbClr val="9BB4AE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371600"/>
            <a:ext cx="5394960" cy="621792"/>
          </a:xfrm>
          <a:prstGeom prst="roundRect">
            <a:avLst>
              <a:gd name="adj" fmla="val 14706"/>
            </a:avLst>
          </a:prstGeom>
          <a:solidFill>
            <a:srgbClr val="3E8B65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04672" y="1371600"/>
            <a:ext cx="488289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8F8F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OPPORTUNITÉS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822960" y="2556891"/>
            <a:ext cx="109728" cy="109728"/>
          </a:xfrm>
          <a:prstGeom prst="ellipse">
            <a:avLst/>
          </a:prstGeom>
          <a:solidFill>
            <a:srgbClr val="3E8B65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51560" y="2194560"/>
            <a:ext cx="4663440" cy="8343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23353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Santé, services, recherche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822960" y="3391281"/>
            <a:ext cx="109728" cy="109728"/>
          </a:xfrm>
          <a:prstGeom prst="ellipse">
            <a:avLst/>
          </a:prstGeom>
          <a:solidFill>
            <a:srgbClr val="3E8B65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51560" y="3028950"/>
            <a:ext cx="4663440" cy="8343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23353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Éducation : personnalisation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822960" y="4225671"/>
            <a:ext cx="109728" cy="109728"/>
          </a:xfrm>
          <a:prstGeom prst="ellipse">
            <a:avLst/>
          </a:prstGeom>
          <a:solidFill>
            <a:srgbClr val="3E8B65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051560" y="3863340"/>
            <a:ext cx="4663440" cy="8343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23353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Soulager les tâches pénibles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822960" y="5060061"/>
            <a:ext cx="109728" cy="109728"/>
          </a:xfrm>
          <a:prstGeom prst="ellipse">
            <a:avLst/>
          </a:prstGeom>
          <a:solidFill>
            <a:srgbClr val="3E8B65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051560" y="4697730"/>
            <a:ext cx="4663440" cy="8343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23353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Prévention &amp; accessibilité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6245352" y="1371600"/>
            <a:ext cx="5394960" cy="4297680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15875">
            <a:solidFill>
              <a:srgbClr val="E0952A"/>
            </a:solidFill>
            <a:prstDash val="solid"/>
          </a:ln>
          <a:effectLst>
            <a:outerShdw blurRad="76200" dist="25400" dir="5400000" algn="bl" rotWithShape="0">
              <a:srgbClr val="9BB4AE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45352" y="1371600"/>
            <a:ext cx="5394960" cy="621792"/>
          </a:xfrm>
          <a:prstGeom prst="roundRect">
            <a:avLst>
              <a:gd name="adj" fmla="val 14706"/>
            </a:avLst>
          </a:prstGeom>
          <a:solidFill>
            <a:srgbClr val="E0952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501384" y="1371600"/>
            <a:ext cx="488289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8F8F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ALERTES</a:t>
            </a:r>
            <a:endParaRPr lang="en-US" sz="2100" dirty="0"/>
          </a:p>
        </p:txBody>
      </p:sp>
      <p:sp>
        <p:nvSpPr>
          <p:cNvPr id="18" name="Shape 16"/>
          <p:cNvSpPr/>
          <p:nvPr/>
        </p:nvSpPr>
        <p:spPr>
          <a:xfrm>
            <a:off x="6519672" y="2556891"/>
            <a:ext cx="109728" cy="109728"/>
          </a:xfrm>
          <a:prstGeom prst="ellipse">
            <a:avLst/>
          </a:prstGeom>
          <a:solidFill>
            <a:srgbClr val="E0952A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748272" y="2194560"/>
            <a:ext cx="4663440" cy="8343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23353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Injustice silencieuse, opacité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6519672" y="3391281"/>
            <a:ext cx="109728" cy="109728"/>
          </a:xfrm>
          <a:prstGeom prst="ellipse">
            <a:avLst/>
          </a:prstGeom>
          <a:solidFill>
            <a:srgbClr val="E0952A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748272" y="3028950"/>
            <a:ext cx="4663440" cy="8343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23353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Désinformation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6519672" y="4225671"/>
            <a:ext cx="109728" cy="109728"/>
          </a:xfrm>
          <a:prstGeom prst="ellipse">
            <a:avLst/>
          </a:prstGeom>
          <a:solidFill>
            <a:srgbClr val="E0952A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748272" y="3863340"/>
            <a:ext cx="4663440" cy="8343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23353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Déqualification, surveillance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6519672" y="5060061"/>
            <a:ext cx="109728" cy="109728"/>
          </a:xfrm>
          <a:prstGeom prst="ellipse">
            <a:avLst/>
          </a:prstGeom>
          <a:solidFill>
            <a:srgbClr val="E0952A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748272" y="4697730"/>
            <a:ext cx="4663440" cy="8343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23353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Dépendances, esclavage, armes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9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38505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Le positionnement de l'école catholique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3550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60C09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Edu</a:t>
            </a:r>
            <a:r>
              <a:rPr lang="en-US" sz="2000" b="1" dirty="0">
                <a:solidFill>
                  <a:srgbClr val="F8B04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</a:t>
            </a:r>
            <a:r>
              <a:rPr lang="en-US" sz="2000" b="1" dirty="0">
                <a:solidFill>
                  <a:srgbClr val="38505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eb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39496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5875">
            <a:solidFill>
              <a:srgbClr val="B6E1CB"/>
            </a:solidFill>
            <a:prstDash val="solid"/>
          </a:ln>
          <a:effectLst>
            <a:outerShdw blurRad="76200" dist="25400" dir="5400000" algn="bl" rotWithShape="0">
              <a:srgbClr val="9BB4AE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522476"/>
            <a:ext cx="566928" cy="566928"/>
          </a:xfrm>
          <a:prstGeom prst="ellipse">
            <a:avLst/>
          </a:prstGeom>
          <a:solidFill>
            <a:srgbClr val="38505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52247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8B04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1371600"/>
            <a:ext cx="4297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3E8B6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Personne d'abord  </a:t>
            </a:r>
            <a:r>
              <a:rPr lang="en-US" sz="2000" dirty="0">
                <a:solidFill>
                  <a:srgbClr val="23353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 dignité prime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548640" y="2404872"/>
            <a:ext cx="539496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5875">
            <a:solidFill>
              <a:srgbClr val="B6E1CB"/>
            </a:solidFill>
            <a:prstDash val="solid"/>
          </a:ln>
          <a:effectLst>
            <a:outerShdw blurRad="76200" dist="25400" dir="5400000" algn="bl" rotWithShape="0">
              <a:srgbClr val="9BB4AE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31520" y="2555748"/>
            <a:ext cx="566928" cy="566928"/>
          </a:xfrm>
          <a:prstGeom prst="ellipse">
            <a:avLst/>
          </a:prstGeom>
          <a:solidFill>
            <a:srgbClr val="38505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31520" y="255574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8B04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1463040" y="2404872"/>
            <a:ext cx="4297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3E8B6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Discernement  </a:t>
            </a:r>
            <a:r>
              <a:rPr lang="en-US" sz="2000" dirty="0">
                <a:solidFill>
                  <a:srgbClr val="23353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quand ne pas utiliser l'IA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548640" y="3438144"/>
            <a:ext cx="539496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5875">
            <a:solidFill>
              <a:srgbClr val="B6E1CB"/>
            </a:solidFill>
            <a:prstDash val="solid"/>
          </a:ln>
          <a:effectLst>
            <a:outerShdw blurRad="76200" dist="25400" dir="5400000" algn="bl" rotWithShape="0">
              <a:srgbClr val="9BB4AE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31520" y="3589020"/>
            <a:ext cx="566928" cy="566928"/>
          </a:xfrm>
          <a:prstGeom prst="ellipse">
            <a:avLst/>
          </a:prstGeom>
          <a:solidFill>
            <a:srgbClr val="38505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31520" y="358902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8B04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1463040" y="3438144"/>
            <a:ext cx="4297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3E8B6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Attention &amp; sobriété  </a:t>
            </a:r>
            <a:r>
              <a:rPr lang="en-US" sz="2000" dirty="0">
                <a:solidFill>
                  <a:srgbClr val="23353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silence, jeûne de l'IA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548640" y="4471416"/>
            <a:ext cx="539496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5875">
            <a:solidFill>
              <a:srgbClr val="B6E1CB"/>
            </a:solidFill>
            <a:prstDash val="solid"/>
          </a:ln>
          <a:effectLst>
            <a:outerShdw blurRad="76200" dist="25400" dir="5400000" algn="bl" rotWithShape="0">
              <a:srgbClr val="9BB4AE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31520" y="4622292"/>
            <a:ext cx="566928" cy="566928"/>
          </a:xfrm>
          <a:prstGeom prst="ellipse">
            <a:avLst/>
          </a:prstGeom>
          <a:solidFill>
            <a:srgbClr val="385050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31520" y="462229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8B04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1463040" y="4471416"/>
            <a:ext cx="4297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3E8B6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Mineurs  </a:t>
            </a:r>
            <a:r>
              <a:rPr lang="en-US" sz="2000" dirty="0">
                <a:solidFill>
                  <a:srgbClr val="23353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âge, contenus, harcèlement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6245352" y="1371600"/>
            <a:ext cx="539496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5875">
            <a:solidFill>
              <a:srgbClr val="B6E1CB"/>
            </a:solidFill>
            <a:prstDash val="solid"/>
          </a:ln>
          <a:effectLst>
            <a:outerShdw blurRad="76200" dist="25400" dir="5400000" algn="bl" rotWithShape="0">
              <a:srgbClr val="9BB4AE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428232" y="1522476"/>
            <a:ext cx="566928" cy="566928"/>
          </a:xfrm>
          <a:prstGeom prst="ellipse">
            <a:avLst/>
          </a:prstGeom>
          <a:solidFill>
            <a:srgbClr val="385050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428232" y="152247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8B04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2000" dirty="0"/>
          </a:p>
        </p:txBody>
      </p:sp>
      <p:sp>
        <p:nvSpPr>
          <p:cNvPr id="23" name="Text 21"/>
          <p:cNvSpPr txBox="1"/>
          <p:nvPr/>
        </p:nvSpPr>
        <p:spPr>
          <a:xfrm>
            <a:off x="7159752" y="1371600"/>
            <a:ext cx="4297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3E8B6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Inclusion  </a:t>
            </a:r>
            <a:r>
              <a:rPr lang="en-US" sz="2000" dirty="0">
                <a:solidFill>
                  <a:srgbClr val="23353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contre la fracture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6245352" y="2404872"/>
            <a:ext cx="539496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5875">
            <a:solidFill>
              <a:srgbClr val="B6E1CB"/>
            </a:solidFill>
            <a:prstDash val="solid"/>
          </a:ln>
          <a:effectLst>
            <a:outerShdw blurRad="76200" dist="25400" dir="5400000" algn="bl" rotWithShape="0">
              <a:srgbClr val="9BB4AE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428232" y="2555748"/>
            <a:ext cx="566928" cy="566928"/>
          </a:xfrm>
          <a:prstGeom prst="ellipse">
            <a:avLst/>
          </a:prstGeom>
          <a:solidFill>
            <a:srgbClr val="385050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428232" y="255574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8B04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2000" dirty="0"/>
          </a:p>
        </p:txBody>
      </p:sp>
      <p:sp>
        <p:nvSpPr>
          <p:cNvPr id="27" name="Text 25"/>
          <p:cNvSpPr txBox="1"/>
          <p:nvPr/>
        </p:nvSpPr>
        <p:spPr>
          <a:xfrm>
            <a:off x="7159752" y="2404872"/>
            <a:ext cx="4297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3E8B6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Transparence  </a:t>
            </a:r>
            <a:r>
              <a:rPr lang="en-US" sz="2000" dirty="0">
                <a:solidFill>
                  <a:srgbClr val="23353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recours, due diligence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6245352" y="3438144"/>
            <a:ext cx="539496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5875">
            <a:solidFill>
              <a:srgbClr val="B6E1CB"/>
            </a:solidFill>
            <a:prstDash val="solid"/>
          </a:ln>
          <a:effectLst>
            <a:outerShdw blurRad="76200" dist="25400" dir="5400000" algn="bl" rotWithShape="0">
              <a:srgbClr val="9BB4AE">
                <a:alpha val="3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428232" y="3589020"/>
            <a:ext cx="566928" cy="566928"/>
          </a:xfrm>
          <a:prstGeom prst="ellipse">
            <a:avLst/>
          </a:prstGeom>
          <a:solidFill>
            <a:srgbClr val="385050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6428232" y="358902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8B04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2000" dirty="0"/>
          </a:p>
        </p:txBody>
      </p:sp>
      <p:sp>
        <p:nvSpPr>
          <p:cNvPr id="31" name="Text 29"/>
          <p:cNvSpPr txBox="1"/>
          <p:nvPr/>
        </p:nvSpPr>
        <p:spPr>
          <a:xfrm>
            <a:off x="7159752" y="3438144"/>
            <a:ext cx="4297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3E8B6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Alliance  </a:t>
            </a:r>
            <a:r>
              <a:rPr lang="en-US" sz="2000" dirty="0">
                <a:solidFill>
                  <a:srgbClr val="23353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école-familles-Église</a:t>
            </a:r>
            <a:endParaRPr lang="en-US" sz="2000" dirty="0"/>
          </a:p>
        </p:txBody>
      </p:sp>
      <p:sp>
        <p:nvSpPr>
          <p:cNvPr id="32" name="Shape 30"/>
          <p:cNvSpPr/>
          <p:nvPr/>
        </p:nvSpPr>
        <p:spPr>
          <a:xfrm>
            <a:off x="6245352" y="4471416"/>
            <a:ext cx="539496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5875">
            <a:solidFill>
              <a:srgbClr val="B6E1CB"/>
            </a:solidFill>
            <a:prstDash val="solid"/>
          </a:ln>
          <a:effectLst>
            <a:outerShdw blurRad="76200" dist="25400" dir="5400000" algn="bl" rotWithShape="0">
              <a:srgbClr val="9BB4AE">
                <a:alpha val="3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428232" y="4622292"/>
            <a:ext cx="566928" cy="566928"/>
          </a:xfrm>
          <a:prstGeom prst="ellipse">
            <a:avLst/>
          </a:prstGeom>
          <a:solidFill>
            <a:srgbClr val="385050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6428232" y="462229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8B04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2000" dirty="0"/>
          </a:p>
        </p:txBody>
      </p:sp>
      <p:sp>
        <p:nvSpPr>
          <p:cNvPr id="35" name="Text 33"/>
          <p:cNvSpPr txBox="1"/>
          <p:nvPr/>
        </p:nvSpPr>
        <p:spPr>
          <a:xfrm>
            <a:off x="7159752" y="4471416"/>
            <a:ext cx="4297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3E8B6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Livrable  </a:t>
            </a:r>
            <a:r>
              <a:rPr lang="en-US" sz="2000" dirty="0">
                <a:solidFill>
                  <a:srgbClr val="23353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charte + plan d'action</a:t>
            </a: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3850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901952"/>
            <a:ext cx="10881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kern="0" spc="200" dirty="0">
                <a:solidFill>
                  <a:srgbClr val="F8B04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ÉVALUATION &amp; CERTIFICATION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468880"/>
            <a:ext cx="108813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8F8F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Des bâtisseurs, non des architectes de Babel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840480"/>
            <a:ext cx="10881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i="1" dirty="0">
                <a:solidFill>
                  <a:srgbClr val="60C09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« Que chacun prenne garde à la manière dont il bâtit » (1 Co 3, 10)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438912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000" dirty="0">
                <a:solidFill>
                  <a:srgbClr val="B6E1C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≥ 70 % aux tests auto-corrigés + livrable validé → badge « Discernement IA &amp; DSE »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63550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60C09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Edu</a:t>
            </a:r>
            <a:r>
              <a:rPr lang="en-US" sz="2000" b="1" dirty="0">
                <a:solidFill>
                  <a:srgbClr val="F8B04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</a:t>
            </a:r>
            <a:r>
              <a:rPr lang="en-US" sz="2000" b="1" dirty="0">
                <a:solidFill>
                  <a:srgbClr val="F8F8F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eb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448</Words>
  <Application>Microsoft Office PowerPoint</Application>
  <PresentationFormat>Grand écran</PresentationFormat>
  <Paragraphs>131</Paragraphs>
  <Slides>9</Slides>
  <Notes>9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9</vt:i4>
      </vt:variant>
    </vt:vector>
  </HeadingPairs>
  <TitlesOfParts>
    <vt:vector size="12" baseType="lpstr">
      <vt:lpstr>Arial</vt:lpstr>
      <vt:lpstr>Century Gothic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EduWeb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Formation Magnifica Humanitas</dc:subject>
  <dc:creator>EduWeb</dc:creator>
  <cp:lastModifiedBy>Elogne ZORO</cp:lastModifiedBy>
  <cp:revision>2</cp:revision>
  <dcterms:created xsi:type="dcterms:W3CDTF">2026-08-27T16:25:57Z</dcterms:created>
  <dcterms:modified xsi:type="dcterms:W3CDTF">2026-08-27T16:30:58Z</dcterms:modified>
</cp:coreProperties>
</file>