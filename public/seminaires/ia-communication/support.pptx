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1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D99A1E"/>
          </a:solidFill>
          <a:ln/>
        </p:spPr>
      </p:sp>
      <p:sp>
        <p:nvSpPr>
          <p:cNvPr id="3" name="Shape 1"/>
          <p:cNvSpPr/>
          <p:nvPr/>
        </p:nvSpPr>
        <p:spPr>
          <a:xfrm>
            <a:off x="0" y="6711696"/>
            <a:ext cx="12191695" cy="146304"/>
          </a:xfrm>
          <a:prstGeom prst="rect">
            <a:avLst/>
          </a:prstGeom>
          <a:solidFill>
            <a:srgbClr val="176B45"/>
          </a:solidFill>
          <a:ln/>
        </p:spPr>
      </p:sp>
      <p:sp>
        <p:nvSpPr>
          <p:cNvPr id="4" name="Text 2"/>
          <p:cNvSpPr/>
          <p:nvPr/>
        </p:nvSpPr>
        <p:spPr>
          <a:xfrm>
            <a:off x="566928" y="640080"/>
            <a:ext cx="11057839" cy="329184"/>
          </a:xfrm>
          <a:prstGeom prst="rect">
            <a:avLst/>
          </a:prstGeom>
          <a:noFill/>
          <a:ln/>
        </p:spPr>
        <p:txBody>
          <a:bodyPr wrap="square" rtlCol="0" anchor="ctr"/>
          <a:lstStyle/>
          <a:p>
            <a:pPr algn="l" indent="0" marL="0">
              <a:buNone/>
            </a:pPr>
            <a:r>
              <a:rPr lang="en-US" sz="1300" b="1" spc="300" kern="0" dirty="0">
                <a:solidFill>
                  <a:srgbClr val="D99A1E"/>
                </a:solidFill>
                <a:latin typeface="Arial" pitchFamily="34" charset="0"/>
                <a:ea typeface="Arial" pitchFamily="34" charset="-122"/>
                <a:cs typeface="Arial" pitchFamily="34" charset="-120"/>
              </a:rPr>
              <a:t>SÉMINAIRE SENEC</a:t>
            </a:r>
            <a:endParaRPr lang="en-US" sz="1300" dirty="0"/>
          </a:p>
        </p:txBody>
      </p:sp>
      <p:sp>
        <p:nvSpPr>
          <p:cNvPr id="5" name="Text 3"/>
          <p:cNvSpPr/>
          <p:nvPr/>
        </p:nvSpPr>
        <p:spPr>
          <a:xfrm>
            <a:off x="566928" y="1097280"/>
            <a:ext cx="11057839" cy="2011680"/>
          </a:xfrm>
          <a:prstGeom prst="rect">
            <a:avLst/>
          </a:prstGeom>
          <a:noFill/>
          <a:ln/>
        </p:spPr>
        <p:txBody>
          <a:bodyPr wrap="square" rtlCol="0" anchor="t">
            <a:normAutofit/>
          </a:bodyPr>
          <a:lstStyle/>
          <a:p>
            <a:pPr algn="l" indent="0" marL="0">
              <a:lnSpc>
                <a:spcPct val="100000"/>
              </a:lnSpc>
              <a:buNone/>
            </a:pPr>
            <a:r>
              <a:rPr lang="en-US" sz="4000" b="1" dirty="0">
                <a:solidFill>
                  <a:srgbClr val="FFFFFF"/>
                </a:solidFill>
                <a:latin typeface="Arial" pitchFamily="34" charset="0"/>
                <a:ea typeface="Arial" pitchFamily="34" charset="-122"/>
                <a:cs typeface="Arial" pitchFamily="34" charset="-120"/>
              </a:rPr>
              <a:t>L'intelligence artificielle au service de la communication éducative et pastorale</a:t>
            </a:r>
            <a:endParaRPr lang="en-US" sz="4000" dirty="0"/>
          </a:p>
        </p:txBody>
      </p:sp>
      <p:sp>
        <p:nvSpPr>
          <p:cNvPr id="6" name="Shape 4"/>
          <p:cNvSpPr/>
          <p:nvPr/>
        </p:nvSpPr>
        <p:spPr>
          <a:xfrm>
            <a:off x="566928" y="3200400"/>
            <a:ext cx="2194560" cy="64008"/>
          </a:xfrm>
          <a:prstGeom prst="rect">
            <a:avLst/>
          </a:prstGeom>
          <a:solidFill>
            <a:srgbClr val="D99A1E"/>
          </a:solidFill>
          <a:ln/>
        </p:spPr>
      </p:sp>
      <p:sp>
        <p:nvSpPr>
          <p:cNvPr id="7" name="Text 5"/>
          <p:cNvSpPr/>
          <p:nvPr/>
        </p:nvSpPr>
        <p:spPr>
          <a:xfrm>
            <a:off x="566928" y="3401568"/>
            <a:ext cx="11057839" cy="548640"/>
          </a:xfrm>
          <a:prstGeom prst="rect">
            <a:avLst/>
          </a:prstGeom>
          <a:noFill/>
          <a:ln/>
        </p:spPr>
        <p:txBody>
          <a:bodyPr wrap="square" rtlCol="0" anchor="t">
            <a:normAutofit/>
          </a:bodyPr>
          <a:lstStyle/>
          <a:p>
            <a:pPr algn="l" indent="0" marL="0">
              <a:buNone/>
            </a:pPr>
            <a:r>
              <a:rPr lang="en-US" sz="1800" i="1" dirty="0">
                <a:solidFill>
                  <a:srgbClr val="DCE7DF"/>
                </a:solidFill>
                <a:latin typeface="Arial" pitchFamily="34" charset="0"/>
                <a:ea typeface="Arial" pitchFamily="34" charset="-122"/>
                <a:cs typeface="Arial" pitchFamily="34" charset="-120"/>
              </a:rPr>
              <a:t>Construire des usages compétents, responsables et féconds pour la mission.</a:t>
            </a:r>
            <a:endParaRPr lang="en-US" sz="1800" dirty="0"/>
          </a:p>
        </p:txBody>
      </p:sp>
      <p:sp>
        <p:nvSpPr>
          <p:cNvPr id="8" name="Text 6"/>
          <p:cNvSpPr/>
          <p:nvPr/>
        </p:nvSpPr>
        <p:spPr>
          <a:xfrm>
            <a:off x="566928" y="5943600"/>
            <a:ext cx="11057839" cy="457200"/>
          </a:xfrm>
          <a:prstGeom prst="rect">
            <a:avLst/>
          </a:prstGeom>
          <a:noFill/>
          <a:ln/>
        </p:spPr>
        <p:txBody>
          <a:bodyPr wrap="square" rtlCol="0" anchor="ctr">
            <a:normAutofit/>
          </a:bodyPr>
          <a:lstStyle/>
          <a:p>
            <a:pPr algn="l" indent="0" marL="0">
              <a:buNone/>
            </a:pPr>
            <a:r>
              <a:rPr lang="en-US" sz="1150" dirty="0">
                <a:solidFill>
                  <a:srgbClr val="9FB2A6"/>
                </a:solidFill>
                <a:latin typeface="Arial" pitchFamily="34" charset="0"/>
                <a:ea typeface="Arial" pitchFamily="34" charset="-122"/>
                <a:cs typeface="Arial" pitchFamily="34" charset="-120"/>
              </a:rPr>
              <a:t>Session introductive — 20 minutes. SENEC, Séminaire des communicateurs.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02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Pourquoi cette session vient après le numérique ?</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La présence numérique a posé le terrain ; l'IA apporte maintenant une méthode de production et d'amélioration.</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Shape 6"/>
          <p:cNvSpPr/>
          <p:nvPr/>
        </p:nvSpPr>
        <p:spPr>
          <a:xfrm>
            <a:off x="566928" y="2139696"/>
            <a:ext cx="3551834" cy="3913632"/>
          </a:xfrm>
          <a:prstGeom prst="roundRect">
            <a:avLst>
              <a:gd name="adj" fmla="val 2060"/>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9" name="Shape 7"/>
          <p:cNvSpPr/>
          <p:nvPr/>
        </p:nvSpPr>
        <p:spPr>
          <a:xfrm>
            <a:off x="566928" y="2139696"/>
            <a:ext cx="73152" cy="3913632"/>
          </a:xfrm>
          <a:prstGeom prst="rect">
            <a:avLst/>
          </a:prstGeom>
          <a:solidFill>
            <a:srgbClr val="176B45"/>
          </a:solidFill>
          <a:ln/>
        </p:spPr>
      </p:sp>
      <p:sp>
        <p:nvSpPr>
          <p:cNvPr id="10" name="Text 8"/>
          <p:cNvSpPr/>
          <p:nvPr/>
        </p:nvSpPr>
        <p:spPr>
          <a:xfrm>
            <a:off x="768096" y="2286000"/>
            <a:ext cx="3222650"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1</a:t>
            </a:r>
            <a:endParaRPr lang="en-US" sz="1100" dirty="0"/>
          </a:p>
        </p:txBody>
      </p:sp>
      <p:sp>
        <p:nvSpPr>
          <p:cNvPr id="11" name="Text 9"/>
          <p:cNvSpPr/>
          <p:nvPr/>
        </p:nvSpPr>
        <p:spPr>
          <a:xfrm>
            <a:off x="768096" y="2560320"/>
            <a:ext cx="3222650"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Présence numérique</a:t>
            </a:r>
            <a:endParaRPr lang="en-US" sz="1450" dirty="0"/>
          </a:p>
        </p:txBody>
      </p:sp>
      <p:sp>
        <p:nvSpPr>
          <p:cNvPr id="12" name="Text 10"/>
          <p:cNvSpPr/>
          <p:nvPr/>
        </p:nvSpPr>
        <p:spPr>
          <a:xfrm>
            <a:off x="768096" y="2999232"/>
            <a:ext cx="3222650"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Identité, canaux, cohérence, régularité.</a:t>
            </a:r>
            <a:endParaRPr lang="en-US" sz="1150" dirty="0"/>
          </a:p>
        </p:txBody>
      </p:sp>
      <p:sp>
        <p:nvSpPr>
          <p:cNvPr id="13" name="Shape 11"/>
          <p:cNvSpPr/>
          <p:nvPr/>
        </p:nvSpPr>
        <p:spPr>
          <a:xfrm>
            <a:off x="4319930" y="2139696"/>
            <a:ext cx="3551834" cy="3913632"/>
          </a:xfrm>
          <a:prstGeom prst="roundRect">
            <a:avLst>
              <a:gd name="adj" fmla="val 2060"/>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4" name="Shape 12"/>
          <p:cNvSpPr/>
          <p:nvPr/>
        </p:nvSpPr>
        <p:spPr>
          <a:xfrm>
            <a:off x="4319930" y="2139696"/>
            <a:ext cx="73152" cy="3913632"/>
          </a:xfrm>
          <a:prstGeom prst="rect">
            <a:avLst/>
          </a:prstGeom>
          <a:solidFill>
            <a:srgbClr val="176B45"/>
          </a:solidFill>
          <a:ln/>
        </p:spPr>
      </p:sp>
      <p:sp>
        <p:nvSpPr>
          <p:cNvPr id="15" name="Text 13"/>
          <p:cNvSpPr/>
          <p:nvPr/>
        </p:nvSpPr>
        <p:spPr>
          <a:xfrm>
            <a:off x="4521098" y="2286000"/>
            <a:ext cx="3222650"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4521098" y="2560320"/>
            <a:ext cx="3222650"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Production assistée</a:t>
            </a:r>
            <a:endParaRPr lang="en-US" sz="1450" dirty="0"/>
          </a:p>
        </p:txBody>
      </p:sp>
      <p:sp>
        <p:nvSpPr>
          <p:cNvPr id="17" name="Text 15"/>
          <p:cNvSpPr/>
          <p:nvPr/>
        </p:nvSpPr>
        <p:spPr>
          <a:xfrm>
            <a:off x="4521098" y="2999232"/>
            <a:ext cx="3222650"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Prompts, reformulation, adaptation, traduction.</a:t>
            </a:r>
            <a:endParaRPr lang="en-US" sz="1150" dirty="0"/>
          </a:p>
        </p:txBody>
      </p:sp>
      <p:sp>
        <p:nvSpPr>
          <p:cNvPr id="18" name="Shape 16"/>
          <p:cNvSpPr/>
          <p:nvPr/>
        </p:nvSpPr>
        <p:spPr>
          <a:xfrm>
            <a:off x="8072933" y="2139696"/>
            <a:ext cx="3551834" cy="3913632"/>
          </a:xfrm>
          <a:prstGeom prst="roundRect">
            <a:avLst>
              <a:gd name="adj" fmla="val 2060"/>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9" name="Shape 17"/>
          <p:cNvSpPr/>
          <p:nvPr/>
        </p:nvSpPr>
        <p:spPr>
          <a:xfrm>
            <a:off x="8072933" y="2139696"/>
            <a:ext cx="73152" cy="3913632"/>
          </a:xfrm>
          <a:prstGeom prst="rect">
            <a:avLst/>
          </a:prstGeom>
          <a:solidFill>
            <a:srgbClr val="176B45"/>
          </a:solidFill>
          <a:ln/>
        </p:spPr>
      </p:sp>
      <p:sp>
        <p:nvSpPr>
          <p:cNvPr id="20" name="Text 18"/>
          <p:cNvSpPr/>
          <p:nvPr/>
        </p:nvSpPr>
        <p:spPr>
          <a:xfrm>
            <a:off x="8274101" y="2286000"/>
            <a:ext cx="3222650"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3</a:t>
            </a:r>
            <a:endParaRPr lang="en-US" sz="1100" dirty="0"/>
          </a:p>
        </p:txBody>
      </p:sp>
      <p:sp>
        <p:nvSpPr>
          <p:cNvPr id="21" name="Text 19"/>
          <p:cNvSpPr/>
          <p:nvPr/>
        </p:nvSpPr>
        <p:spPr>
          <a:xfrm>
            <a:off x="8274101" y="2560320"/>
            <a:ext cx="3222650"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Discernement pastoral</a:t>
            </a:r>
            <a:endParaRPr lang="en-US" sz="1450" dirty="0"/>
          </a:p>
        </p:txBody>
      </p:sp>
      <p:sp>
        <p:nvSpPr>
          <p:cNvPr id="22" name="Text 20"/>
          <p:cNvSpPr/>
          <p:nvPr/>
        </p:nvSpPr>
        <p:spPr>
          <a:xfrm>
            <a:off x="8274101" y="2999232"/>
            <a:ext cx="3222650"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Vérité, dignité, prudence, validation.</a:t>
            </a:r>
            <a:endParaRPr lang="en-US" sz="1150" dirty="0"/>
          </a:p>
        </p:txBody>
      </p:sp>
      <p:sp>
        <p:nvSpPr>
          <p:cNvPr id="23" name="Shape 21"/>
          <p:cNvSpPr/>
          <p:nvPr/>
        </p:nvSpPr>
        <p:spPr>
          <a:xfrm>
            <a:off x="566928" y="6144768"/>
            <a:ext cx="11057839" cy="457200"/>
          </a:xfrm>
          <a:prstGeom prst="roundRect">
            <a:avLst>
              <a:gd name="adj" fmla="val 12000"/>
            </a:avLst>
          </a:prstGeom>
          <a:solidFill>
            <a:srgbClr val="F7EFD9"/>
          </a:solidFill>
          <a:ln/>
        </p:spPr>
      </p:sp>
      <p:sp>
        <p:nvSpPr>
          <p:cNvPr id="24" name="Shape 22"/>
          <p:cNvSpPr/>
          <p:nvPr/>
        </p:nvSpPr>
        <p:spPr>
          <a:xfrm>
            <a:off x="566928" y="6144768"/>
            <a:ext cx="64008" cy="457200"/>
          </a:xfrm>
          <a:prstGeom prst="rect">
            <a:avLst/>
          </a:prstGeom>
          <a:solidFill>
            <a:srgbClr val="D99A1E"/>
          </a:solidFill>
          <a:ln/>
        </p:spPr>
      </p:sp>
      <p:sp>
        <p:nvSpPr>
          <p:cNvPr id="25" name="Text 23"/>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L'IA ne remplace pas la stratégie numérique : elle l'équipe.</a:t>
            </a:r>
            <a:endParaRPr lang="en-US" sz="1150" dirty="0"/>
          </a:p>
        </p:txBody>
      </p:sp>
      <p:sp>
        <p:nvSpPr>
          <p:cNvPr id="26" name="Text 24"/>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27" name="Text 25"/>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03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La question de départ</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Face à l'IA, la bonne posture n'est ni la peur, ni l'enthousiasme naïf.</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Shape 6"/>
          <p:cNvSpPr/>
          <p:nvPr/>
        </p:nvSpPr>
        <p:spPr>
          <a:xfrm>
            <a:off x="566928" y="2139696"/>
            <a:ext cx="11057839" cy="1112243"/>
          </a:xfrm>
          <a:prstGeom prst="roundRect">
            <a:avLst>
              <a:gd name="adj" fmla="val 5755"/>
            </a:avLst>
          </a:prstGeom>
          <a:solidFill>
            <a:srgbClr val="F0EAFA"/>
          </a:solidFill>
          <a:ln/>
        </p:spPr>
      </p:sp>
      <p:sp>
        <p:nvSpPr>
          <p:cNvPr id="9" name="Shape 7"/>
          <p:cNvSpPr/>
          <p:nvPr/>
        </p:nvSpPr>
        <p:spPr>
          <a:xfrm>
            <a:off x="566928" y="2139696"/>
            <a:ext cx="73152" cy="1112243"/>
          </a:xfrm>
          <a:prstGeom prst="rect">
            <a:avLst/>
          </a:prstGeom>
          <a:solidFill>
            <a:srgbClr val="7C4DBC"/>
          </a:solidFill>
          <a:ln/>
        </p:spPr>
      </p:sp>
      <p:sp>
        <p:nvSpPr>
          <p:cNvPr id="10" name="Text 8"/>
          <p:cNvSpPr/>
          <p:nvPr/>
        </p:nvSpPr>
        <p:spPr>
          <a:xfrm>
            <a:off x="786384" y="2139696"/>
            <a:ext cx="10655503" cy="1112243"/>
          </a:xfrm>
          <a:prstGeom prst="rect">
            <a:avLst/>
          </a:prstGeom>
          <a:noFill/>
          <a:ln/>
        </p:spPr>
        <p:txBody>
          <a:bodyPr wrap="square" rtlCol="0" anchor="ctr">
            <a:normAutofit/>
          </a:bodyPr>
          <a:lstStyle/>
          <a:p>
            <a:pPr algn="l" indent="0" marL="0">
              <a:lnSpc>
                <a:spcPct val="102000"/>
              </a:lnSpc>
              <a:buNone/>
            </a:pPr>
            <a:r>
              <a:rPr lang="en-US" sz="1400" b="1" dirty="0">
                <a:solidFill>
                  <a:srgbClr val="1B2A22"/>
                </a:solidFill>
                <a:latin typeface="Arial" pitchFamily="34" charset="0"/>
                <a:ea typeface="Arial" pitchFamily="34" charset="-122"/>
                <a:cs typeface="Arial" pitchFamily="34" charset="-120"/>
              </a:rPr>
              <a:t>Comment utiliser l'intelligence artificielle pour mieux communiquer, sans perdre la vérité, l'âme pastorale et la responsabilité humaine ?</a:t>
            </a:r>
            <a:endParaRPr lang="en-US" sz="1400" dirty="0"/>
          </a:p>
        </p:txBody>
      </p:sp>
      <p:sp>
        <p:nvSpPr>
          <p:cNvPr id="11" name="Shape 9"/>
          <p:cNvSpPr/>
          <p:nvPr/>
        </p:nvSpPr>
        <p:spPr>
          <a:xfrm>
            <a:off x="566928" y="3434819"/>
            <a:ext cx="3551834" cy="2965981"/>
          </a:xfrm>
          <a:prstGeom prst="roundRect">
            <a:avLst>
              <a:gd name="adj" fmla="val 24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2" name="Shape 10"/>
          <p:cNvSpPr/>
          <p:nvPr/>
        </p:nvSpPr>
        <p:spPr>
          <a:xfrm>
            <a:off x="566928" y="3434819"/>
            <a:ext cx="73152" cy="2965981"/>
          </a:xfrm>
          <a:prstGeom prst="rect">
            <a:avLst/>
          </a:prstGeom>
          <a:solidFill>
            <a:srgbClr val="176B45"/>
          </a:solidFill>
          <a:ln/>
        </p:spPr>
      </p:sp>
      <p:sp>
        <p:nvSpPr>
          <p:cNvPr id="13" name="Text 11"/>
          <p:cNvSpPr/>
          <p:nvPr/>
        </p:nvSpPr>
        <p:spPr>
          <a:xfrm>
            <a:off x="768096" y="3581123"/>
            <a:ext cx="3222650"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01</a:t>
            </a:r>
            <a:endParaRPr lang="en-US" sz="1100" dirty="0"/>
          </a:p>
        </p:txBody>
      </p:sp>
      <p:sp>
        <p:nvSpPr>
          <p:cNvPr id="14" name="Text 12"/>
          <p:cNvSpPr/>
          <p:nvPr/>
        </p:nvSpPr>
        <p:spPr>
          <a:xfrm>
            <a:off x="768096" y="3855443"/>
            <a:ext cx="3222650"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Compétence</a:t>
            </a:r>
            <a:endParaRPr lang="en-US" sz="1450" dirty="0"/>
          </a:p>
        </p:txBody>
      </p:sp>
      <p:sp>
        <p:nvSpPr>
          <p:cNvPr id="15" name="Text 13"/>
          <p:cNvSpPr/>
          <p:nvPr/>
        </p:nvSpPr>
        <p:spPr>
          <a:xfrm>
            <a:off x="768096" y="4294355"/>
            <a:ext cx="3222650" cy="2106445"/>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Savoir utiliser.</a:t>
            </a:r>
            <a:endParaRPr lang="en-US" sz="1150" dirty="0"/>
          </a:p>
        </p:txBody>
      </p:sp>
      <p:sp>
        <p:nvSpPr>
          <p:cNvPr id="16" name="Shape 14"/>
          <p:cNvSpPr/>
          <p:nvPr/>
        </p:nvSpPr>
        <p:spPr>
          <a:xfrm>
            <a:off x="4319930" y="3434819"/>
            <a:ext cx="3551834" cy="2965981"/>
          </a:xfrm>
          <a:prstGeom prst="roundRect">
            <a:avLst>
              <a:gd name="adj" fmla="val 24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7" name="Shape 15"/>
          <p:cNvSpPr/>
          <p:nvPr/>
        </p:nvSpPr>
        <p:spPr>
          <a:xfrm>
            <a:off x="4319930" y="3434819"/>
            <a:ext cx="73152" cy="2965981"/>
          </a:xfrm>
          <a:prstGeom prst="rect">
            <a:avLst/>
          </a:prstGeom>
          <a:solidFill>
            <a:srgbClr val="176B45"/>
          </a:solidFill>
          <a:ln/>
        </p:spPr>
      </p:sp>
      <p:sp>
        <p:nvSpPr>
          <p:cNvPr id="18" name="Text 16"/>
          <p:cNvSpPr/>
          <p:nvPr/>
        </p:nvSpPr>
        <p:spPr>
          <a:xfrm>
            <a:off x="4521098" y="3581123"/>
            <a:ext cx="3222650"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02</a:t>
            </a:r>
            <a:endParaRPr lang="en-US" sz="1100" dirty="0"/>
          </a:p>
        </p:txBody>
      </p:sp>
      <p:sp>
        <p:nvSpPr>
          <p:cNvPr id="19" name="Text 17"/>
          <p:cNvSpPr/>
          <p:nvPr/>
        </p:nvSpPr>
        <p:spPr>
          <a:xfrm>
            <a:off x="4521098" y="3855443"/>
            <a:ext cx="3222650"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Discernement</a:t>
            </a:r>
            <a:endParaRPr lang="en-US" sz="1450" dirty="0"/>
          </a:p>
        </p:txBody>
      </p:sp>
      <p:sp>
        <p:nvSpPr>
          <p:cNvPr id="20" name="Text 18"/>
          <p:cNvSpPr/>
          <p:nvPr/>
        </p:nvSpPr>
        <p:spPr>
          <a:xfrm>
            <a:off x="4521098" y="4294355"/>
            <a:ext cx="3222650" cy="2106445"/>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Savoir choisir.</a:t>
            </a:r>
            <a:endParaRPr lang="en-US" sz="1150" dirty="0"/>
          </a:p>
        </p:txBody>
      </p:sp>
      <p:sp>
        <p:nvSpPr>
          <p:cNvPr id="21" name="Shape 19"/>
          <p:cNvSpPr/>
          <p:nvPr/>
        </p:nvSpPr>
        <p:spPr>
          <a:xfrm>
            <a:off x="8072933" y="3434819"/>
            <a:ext cx="3551834" cy="2965981"/>
          </a:xfrm>
          <a:prstGeom prst="roundRect">
            <a:avLst>
              <a:gd name="adj" fmla="val 24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2" name="Shape 20"/>
          <p:cNvSpPr/>
          <p:nvPr/>
        </p:nvSpPr>
        <p:spPr>
          <a:xfrm>
            <a:off x="8072933" y="3434819"/>
            <a:ext cx="73152" cy="2965981"/>
          </a:xfrm>
          <a:prstGeom prst="rect">
            <a:avLst/>
          </a:prstGeom>
          <a:solidFill>
            <a:srgbClr val="176B45"/>
          </a:solidFill>
          <a:ln/>
        </p:spPr>
      </p:sp>
      <p:sp>
        <p:nvSpPr>
          <p:cNvPr id="23" name="Text 21"/>
          <p:cNvSpPr/>
          <p:nvPr/>
        </p:nvSpPr>
        <p:spPr>
          <a:xfrm>
            <a:off x="8274101" y="3581123"/>
            <a:ext cx="3222650"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03</a:t>
            </a:r>
            <a:endParaRPr lang="en-US" sz="1100" dirty="0"/>
          </a:p>
        </p:txBody>
      </p:sp>
      <p:sp>
        <p:nvSpPr>
          <p:cNvPr id="24" name="Text 22"/>
          <p:cNvSpPr/>
          <p:nvPr/>
        </p:nvSpPr>
        <p:spPr>
          <a:xfrm>
            <a:off x="8274101" y="3855443"/>
            <a:ext cx="3222650"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Validation</a:t>
            </a:r>
            <a:endParaRPr lang="en-US" sz="1450" dirty="0"/>
          </a:p>
        </p:txBody>
      </p:sp>
      <p:sp>
        <p:nvSpPr>
          <p:cNvPr id="25" name="Text 23"/>
          <p:cNvSpPr/>
          <p:nvPr/>
        </p:nvSpPr>
        <p:spPr>
          <a:xfrm>
            <a:off x="8274101" y="4294355"/>
            <a:ext cx="3222650" cy="2106445"/>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Savoir publier.</a:t>
            </a:r>
            <a:endParaRPr lang="en-US" sz="1150" dirty="0"/>
          </a:p>
        </p:txBody>
      </p:sp>
      <p:sp>
        <p:nvSpPr>
          <p:cNvPr id="26" name="Text 24"/>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27" name="Text 25"/>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04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Comprendre simplement l'IA générative</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Un assistant qui produit des contenus à partir d'une consigne, mais qui ne porte aucune responsabilité morale.</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Text 6"/>
          <p:cNvSpPr/>
          <p:nvPr/>
        </p:nvSpPr>
        <p:spPr>
          <a:xfrm>
            <a:off x="566928" y="2139696"/>
            <a:ext cx="11057839" cy="1246510"/>
          </a:xfrm>
          <a:prstGeom prst="rect">
            <a:avLst/>
          </a:prstGeom>
          <a:noFill/>
          <a:ln/>
        </p:spPr>
        <p:txBody>
          <a:bodyPr wrap="square" rtlCol="0" anchor="t">
            <a:normAutofit/>
          </a:bodyPr>
          <a:lstStyle/>
          <a:p>
            <a:pPr algn="l" indent="0" marL="0">
              <a:lnSpc>
                <a:spcPct val="105000"/>
              </a:lnSpc>
              <a:buNone/>
            </a:pPr>
            <a:r>
              <a:rPr lang="en-US" sz="1350" dirty="0">
                <a:solidFill>
                  <a:srgbClr val="1B2A22"/>
                </a:solidFill>
                <a:latin typeface="Arial" pitchFamily="34" charset="0"/>
                <a:ea typeface="Arial" pitchFamily="34" charset="-122"/>
                <a:cs typeface="Arial" pitchFamily="34" charset="-120"/>
              </a:rPr>
              <a:t>Elle peut rédiger, résumer, reformuler, traduire, organiser et proposer.</a:t>
            </a:r>
            <a:endParaRPr lang="en-US" sz="1350" dirty="0"/>
          </a:p>
        </p:txBody>
      </p:sp>
      <p:sp>
        <p:nvSpPr>
          <p:cNvPr id="9" name="Text 7"/>
          <p:cNvSpPr/>
          <p:nvPr/>
        </p:nvSpPr>
        <p:spPr>
          <a:xfrm>
            <a:off x="566928" y="3569086"/>
            <a:ext cx="11057839" cy="1246510"/>
          </a:xfrm>
          <a:prstGeom prst="rect">
            <a:avLst/>
          </a:prstGeom>
          <a:noFill/>
          <a:ln/>
        </p:spPr>
        <p:txBody>
          <a:bodyPr wrap="square" rtlCol="0" anchor="t">
            <a:normAutofit/>
          </a:bodyPr>
          <a:lstStyle/>
          <a:p>
            <a:pPr algn="l" indent="0" marL="0">
              <a:lnSpc>
                <a:spcPct val="105000"/>
              </a:lnSpc>
              <a:buNone/>
            </a:pPr>
            <a:r>
              <a:rPr lang="en-US" sz="1350" dirty="0">
                <a:solidFill>
                  <a:srgbClr val="1B2A22"/>
                </a:solidFill>
                <a:latin typeface="Arial" pitchFamily="34" charset="0"/>
                <a:ea typeface="Arial" pitchFamily="34" charset="-122"/>
                <a:cs typeface="Arial" pitchFamily="34" charset="-120"/>
              </a:rPr>
              <a:t>Elle peut aussi inventer, exagérer, se tromper ou adopter un ton inadapté.</a:t>
            </a:r>
            <a:endParaRPr lang="en-US" sz="1350" dirty="0"/>
          </a:p>
        </p:txBody>
      </p:sp>
      <p:sp>
        <p:nvSpPr>
          <p:cNvPr id="10" name="Shape 8"/>
          <p:cNvSpPr/>
          <p:nvPr/>
        </p:nvSpPr>
        <p:spPr>
          <a:xfrm>
            <a:off x="566928" y="4998476"/>
            <a:ext cx="11057839" cy="1402324"/>
          </a:xfrm>
          <a:prstGeom prst="roundRect">
            <a:avLst>
              <a:gd name="adj" fmla="val 4564"/>
            </a:avLst>
          </a:prstGeom>
          <a:solidFill>
            <a:srgbClr val="E6F2EB"/>
          </a:solidFill>
          <a:ln/>
        </p:spPr>
      </p:sp>
      <p:sp>
        <p:nvSpPr>
          <p:cNvPr id="11" name="Shape 9"/>
          <p:cNvSpPr/>
          <p:nvPr/>
        </p:nvSpPr>
        <p:spPr>
          <a:xfrm>
            <a:off x="566928" y="4998476"/>
            <a:ext cx="73152" cy="1402324"/>
          </a:xfrm>
          <a:prstGeom prst="rect">
            <a:avLst/>
          </a:prstGeom>
          <a:solidFill>
            <a:srgbClr val="176B45"/>
          </a:solidFill>
          <a:ln/>
        </p:spPr>
      </p:sp>
      <p:sp>
        <p:nvSpPr>
          <p:cNvPr id="12" name="Text 10"/>
          <p:cNvSpPr/>
          <p:nvPr/>
        </p:nvSpPr>
        <p:spPr>
          <a:xfrm>
            <a:off x="786384" y="4998476"/>
            <a:ext cx="10655503" cy="1402324"/>
          </a:xfrm>
          <a:prstGeom prst="rect">
            <a:avLst/>
          </a:prstGeom>
          <a:noFill/>
          <a:ln/>
        </p:spPr>
        <p:txBody>
          <a:bodyPr wrap="square" rtlCol="0" anchor="ctr">
            <a:normAutofit/>
          </a:bodyPr>
          <a:lstStyle/>
          <a:p>
            <a:pPr algn="l" indent="0" marL="0">
              <a:lnSpc>
                <a:spcPct val="102000"/>
              </a:lnSpc>
              <a:buNone/>
            </a:pPr>
            <a:r>
              <a:rPr lang="en-US" sz="1400" b="1" dirty="0">
                <a:solidFill>
                  <a:srgbClr val="1B2A22"/>
                </a:solidFill>
                <a:latin typeface="Arial" pitchFamily="34" charset="0"/>
                <a:ea typeface="Arial" pitchFamily="34" charset="-122"/>
                <a:cs typeface="Arial" pitchFamily="34" charset="-120"/>
              </a:rPr>
              <a:t>Elle propose. L'humain discerne. L'institution valide.</a:t>
            </a:r>
            <a:endParaRPr lang="en-US" sz="1400" dirty="0"/>
          </a:p>
        </p:txBody>
      </p:sp>
      <p:sp>
        <p:nvSpPr>
          <p:cNvPr id="13" name="Text 11"/>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14" name="Text 12"/>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05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Ce que l'IA peut apporter à la communication</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Des gains concrets : clarté, rapidité, adaptation et régularité.</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Shape 6"/>
          <p:cNvSpPr/>
          <p:nvPr/>
        </p:nvSpPr>
        <p:spPr>
          <a:xfrm>
            <a:off x="566928" y="2139696"/>
            <a:ext cx="1675333" cy="3913632"/>
          </a:xfrm>
          <a:prstGeom prst="roundRect">
            <a:avLst>
              <a:gd name="adj" fmla="val 43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9" name="Shape 7"/>
          <p:cNvSpPr/>
          <p:nvPr/>
        </p:nvSpPr>
        <p:spPr>
          <a:xfrm>
            <a:off x="566928" y="2139696"/>
            <a:ext cx="73152" cy="3913632"/>
          </a:xfrm>
          <a:prstGeom prst="rect">
            <a:avLst/>
          </a:prstGeom>
          <a:solidFill>
            <a:srgbClr val="176B45"/>
          </a:solidFill>
          <a:ln/>
        </p:spPr>
      </p:sp>
      <p:sp>
        <p:nvSpPr>
          <p:cNvPr id="10" name="Text 8"/>
          <p:cNvSpPr/>
          <p:nvPr/>
        </p:nvSpPr>
        <p:spPr>
          <a:xfrm>
            <a:off x="768096" y="2286000"/>
            <a:ext cx="13461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PRODUIRE</a:t>
            </a:r>
            <a:endParaRPr lang="en-US" sz="1100" dirty="0"/>
          </a:p>
        </p:txBody>
      </p:sp>
      <p:sp>
        <p:nvSpPr>
          <p:cNvPr id="11" name="Text 9"/>
          <p:cNvSpPr/>
          <p:nvPr/>
        </p:nvSpPr>
        <p:spPr>
          <a:xfrm>
            <a:off x="768096" y="2560320"/>
            <a:ext cx="13461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Rédiger</a:t>
            </a:r>
            <a:endParaRPr lang="en-US" sz="1450" dirty="0"/>
          </a:p>
        </p:txBody>
      </p:sp>
      <p:sp>
        <p:nvSpPr>
          <p:cNvPr id="12" name="Text 10"/>
          <p:cNvSpPr/>
          <p:nvPr/>
        </p:nvSpPr>
        <p:spPr>
          <a:xfrm>
            <a:off x="768096" y="2999232"/>
            <a:ext cx="13461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Premier jet de communiqué ou invitation.</a:t>
            </a:r>
            <a:endParaRPr lang="en-US" sz="1150" dirty="0"/>
          </a:p>
        </p:txBody>
      </p:sp>
      <p:sp>
        <p:nvSpPr>
          <p:cNvPr id="13" name="Shape 11"/>
          <p:cNvSpPr/>
          <p:nvPr/>
        </p:nvSpPr>
        <p:spPr>
          <a:xfrm>
            <a:off x="2443429" y="2139696"/>
            <a:ext cx="1675333" cy="3913632"/>
          </a:xfrm>
          <a:prstGeom prst="roundRect">
            <a:avLst>
              <a:gd name="adj" fmla="val 43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4" name="Shape 12"/>
          <p:cNvSpPr/>
          <p:nvPr/>
        </p:nvSpPr>
        <p:spPr>
          <a:xfrm>
            <a:off x="2443429" y="2139696"/>
            <a:ext cx="73152" cy="3913632"/>
          </a:xfrm>
          <a:prstGeom prst="rect">
            <a:avLst/>
          </a:prstGeom>
          <a:solidFill>
            <a:srgbClr val="176B45"/>
          </a:solidFill>
          <a:ln/>
        </p:spPr>
      </p:sp>
      <p:sp>
        <p:nvSpPr>
          <p:cNvPr id="15" name="Text 13"/>
          <p:cNvSpPr/>
          <p:nvPr/>
        </p:nvSpPr>
        <p:spPr>
          <a:xfrm>
            <a:off x="2644597" y="2286000"/>
            <a:ext cx="13461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ORGANISER</a:t>
            </a:r>
            <a:endParaRPr lang="en-US" sz="1100" dirty="0"/>
          </a:p>
        </p:txBody>
      </p:sp>
      <p:sp>
        <p:nvSpPr>
          <p:cNvPr id="16" name="Text 14"/>
          <p:cNvSpPr/>
          <p:nvPr/>
        </p:nvSpPr>
        <p:spPr>
          <a:xfrm>
            <a:off x="2644597" y="2560320"/>
            <a:ext cx="13461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Structurer</a:t>
            </a:r>
            <a:endParaRPr lang="en-US" sz="1450" dirty="0"/>
          </a:p>
        </p:txBody>
      </p:sp>
      <p:sp>
        <p:nvSpPr>
          <p:cNvPr id="17" name="Text 15"/>
          <p:cNvSpPr/>
          <p:nvPr/>
        </p:nvSpPr>
        <p:spPr>
          <a:xfrm>
            <a:off x="2644597" y="2999232"/>
            <a:ext cx="13461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Plan de campagne ou calendrier éditorial.</a:t>
            </a:r>
            <a:endParaRPr lang="en-US" sz="1150" dirty="0"/>
          </a:p>
        </p:txBody>
      </p:sp>
      <p:sp>
        <p:nvSpPr>
          <p:cNvPr id="18" name="Shape 16"/>
          <p:cNvSpPr/>
          <p:nvPr/>
        </p:nvSpPr>
        <p:spPr>
          <a:xfrm>
            <a:off x="4319930" y="2139696"/>
            <a:ext cx="1675333" cy="3913632"/>
          </a:xfrm>
          <a:prstGeom prst="roundRect">
            <a:avLst>
              <a:gd name="adj" fmla="val 43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9" name="Shape 17"/>
          <p:cNvSpPr/>
          <p:nvPr/>
        </p:nvSpPr>
        <p:spPr>
          <a:xfrm>
            <a:off x="4319930" y="2139696"/>
            <a:ext cx="73152" cy="3913632"/>
          </a:xfrm>
          <a:prstGeom prst="rect">
            <a:avLst/>
          </a:prstGeom>
          <a:solidFill>
            <a:srgbClr val="176B45"/>
          </a:solidFill>
          <a:ln/>
        </p:spPr>
      </p:sp>
      <p:sp>
        <p:nvSpPr>
          <p:cNvPr id="20" name="Text 18"/>
          <p:cNvSpPr/>
          <p:nvPr/>
        </p:nvSpPr>
        <p:spPr>
          <a:xfrm>
            <a:off x="4521098" y="2286000"/>
            <a:ext cx="13461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DÉCLINER</a:t>
            </a:r>
            <a:endParaRPr lang="en-US" sz="1100" dirty="0"/>
          </a:p>
        </p:txBody>
      </p:sp>
      <p:sp>
        <p:nvSpPr>
          <p:cNvPr id="21" name="Text 19"/>
          <p:cNvSpPr/>
          <p:nvPr/>
        </p:nvSpPr>
        <p:spPr>
          <a:xfrm>
            <a:off x="4521098" y="2560320"/>
            <a:ext cx="13461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Adapter</a:t>
            </a:r>
            <a:endParaRPr lang="en-US" sz="1450" dirty="0"/>
          </a:p>
        </p:txBody>
      </p:sp>
      <p:sp>
        <p:nvSpPr>
          <p:cNvPr id="22" name="Text 20"/>
          <p:cNvSpPr/>
          <p:nvPr/>
        </p:nvSpPr>
        <p:spPr>
          <a:xfrm>
            <a:off x="4521098" y="2999232"/>
            <a:ext cx="13461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WhatsApp, Facebook, site web, affiche.</a:t>
            </a:r>
            <a:endParaRPr lang="en-US" sz="1150" dirty="0"/>
          </a:p>
        </p:txBody>
      </p:sp>
      <p:sp>
        <p:nvSpPr>
          <p:cNvPr id="23" name="Shape 21"/>
          <p:cNvSpPr/>
          <p:nvPr/>
        </p:nvSpPr>
        <p:spPr>
          <a:xfrm>
            <a:off x="6196432" y="2139696"/>
            <a:ext cx="1675333" cy="3913632"/>
          </a:xfrm>
          <a:prstGeom prst="roundRect">
            <a:avLst>
              <a:gd name="adj" fmla="val 43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4" name="Shape 22"/>
          <p:cNvSpPr/>
          <p:nvPr/>
        </p:nvSpPr>
        <p:spPr>
          <a:xfrm>
            <a:off x="6196432" y="2139696"/>
            <a:ext cx="73152" cy="3913632"/>
          </a:xfrm>
          <a:prstGeom prst="rect">
            <a:avLst/>
          </a:prstGeom>
          <a:solidFill>
            <a:srgbClr val="176B45"/>
          </a:solidFill>
          <a:ln/>
        </p:spPr>
      </p:sp>
      <p:sp>
        <p:nvSpPr>
          <p:cNvPr id="25" name="Text 23"/>
          <p:cNvSpPr/>
          <p:nvPr/>
        </p:nvSpPr>
        <p:spPr>
          <a:xfrm>
            <a:off x="6397600" y="2286000"/>
            <a:ext cx="13461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OUVRIR</a:t>
            </a:r>
            <a:endParaRPr lang="en-US" sz="1100" dirty="0"/>
          </a:p>
        </p:txBody>
      </p:sp>
      <p:sp>
        <p:nvSpPr>
          <p:cNvPr id="26" name="Text 24"/>
          <p:cNvSpPr/>
          <p:nvPr/>
        </p:nvSpPr>
        <p:spPr>
          <a:xfrm>
            <a:off x="6397600" y="2560320"/>
            <a:ext cx="13461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Traduire</a:t>
            </a:r>
            <a:endParaRPr lang="en-US" sz="1450" dirty="0"/>
          </a:p>
        </p:txBody>
      </p:sp>
      <p:sp>
        <p:nvSpPr>
          <p:cNvPr id="27" name="Text 25"/>
          <p:cNvSpPr/>
          <p:nvPr/>
        </p:nvSpPr>
        <p:spPr>
          <a:xfrm>
            <a:off x="6397600" y="2999232"/>
            <a:ext cx="13461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Versions pour partenaires ou communautés.</a:t>
            </a:r>
            <a:endParaRPr lang="en-US" sz="1150" dirty="0"/>
          </a:p>
        </p:txBody>
      </p:sp>
      <p:sp>
        <p:nvSpPr>
          <p:cNvPr id="28" name="Shape 26"/>
          <p:cNvSpPr/>
          <p:nvPr/>
        </p:nvSpPr>
        <p:spPr>
          <a:xfrm>
            <a:off x="8072933" y="2139696"/>
            <a:ext cx="1675333" cy="3913632"/>
          </a:xfrm>
          <a:prstGeom prst="roundRect">
            <a:avLst>
              <a:gd name="adj" fmla="val 43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9" name="Shape 27"/>
          <p:cNvSpPr/>
          <p:nvPr/>
        </p:nvSpPr>
        <p:spPr>
          <a:xfrm>
            <a:off x="8072933" y="2139696"/>
            <a:ext cx="73152" cy="3913632"/>
          </a:xfrm>
          <a:prstGeom prst="rect">
            <a:avLst/>
          </a:prstGeom>
          <a:solidFill>
            <a:srgbClr val="176B45"/>
          </a:solidFill>
          <a:ln/>
        </p:spPr>
      </p:sp>
      <p:sp>
        <p:nvSpPr>
          <p:cNvPr id="30" name="Text 28"/>
          <p:cNvSpPr/>
          <p:nvPr/>
        </p:nvSpPr>
        <p:spPr>
          <a:xfrm>
            <a:off x="8274101" y="2286000"/>
            <a:ext cx="13461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SOIGNER</a:t>
            </a:r>
            <a:endParaRPr lang="en-US" sz="1100" dirty="0"/>
          </a:p>
        </p:txBody>
      </p:sp>
      <p:sp>
        <p:nvSpPr>
          <p:cNvPr id="31" name="Text 29"/>
          <p:cNvSpPr/>
          <p:nvPr/>
        </p:nvSpPr>
        <p:spPr>
          <a:xfrm>
            <a:off x="8274101" y="2560320"/>
            <a:ext cx="13461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Corriger</a:t>
            </a:r>
            <a:endParaRPr lang="en-US" sz="1450" dirty="0"/>
          </a:p>
        </p:txBody>
      </p:sp>
      <p:sp>
        <p:nvSpPr>
          <p:cNvPr id="32" name="Text 30"/>
          <p:cNvSpPr/>
          <p:nvPr/>
        </p:nvSpPr>
        <p:spPr>
          <a:xfrm>
            <a:off x="8274101" y="2999232"/>
            <a:ext cx="13461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Orthographe, style, clarté.</a:t>
            </a:r>
            <a:endParaRPr lang="en-US" sz="1150" dirty="0"/>
          </a:p>
        </p:txBody>
      </p:sp>
      <p:sp>
        <p:nvSpPr>
          <p:cNvPr id="33" name="Shape 31"/>
          <p:cNvSpPr/>
          <p:nvPr/>
        </p:nvSpPr>
        <p:spPr>
          <a:xfrm>
            <a:off x="9949434" y="2139696"/>
            <a:ext cx="1675333" cy="3913632"/>
          </a:xfrm>
          <a:prstGeom prst="roundRect">
            <a:avLst>
              <a:gd name="adj" fmla="val 4366"/>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34" name="Shape 32"/>
          <p:cNvSpPr/>
          <p:nvPr/>
        </p:nvSpPr>
        <p:spPr>
          <a:xfrm>
            <a:off x="9949434" y="2139696"/>
            <a:ext cx="73152" cy="3913632"/>
          </a:xfrm>
          <a:prstGeom prst="rect">
            <a:avLst/>
          </a:prstGeom>
          <a:solidFill>
            <a:srgbClr val="176B45"/>
          </a:solidFill>
          <a:ln/>
        </p:spPr>
      </p:sp>
      <p:sp>
        <p:nvSpPr>
          <p:cNvPr id="35" name="Text 33"/>
          <p:cNvSpPr/>
          <p:nvPr/>
        </p:nvSpPr>
        <p:spPr>
          <a:xfrm>
            <a:off x="10150602" y="2286000"/>
            <a:ext cx="13461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ANTICIPER</a:t>
            </a:r>
            <a:endParaRPr lang="en-US" sz="1100" dirty="0"/>
          </a:p>
        </p:txBody>
      </p:sp>
      <p:sp>
        <p:nvSpPr>
          <p:cNvPr id="36" name="Text 34"/>
          <p:cNvSpPr/>
          <p:nvPr/>
        </p:nvSpPr>
        <p:spPr>
          <a:xfrm>
            <a:off x="10150602" y="2560320"/>
            <a:ext cx="13461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Préparer</a:t>
            </a:r>
            <a:endParaRPr lang="en-US" sz="1450" dirty="0"/>
          </a:p>
        </p:txBody>
      </p:sp>
      <p:sp>
        <p:nvSpPr>
          <p:cNvPr id="37" name="Text 35"/>
          <p:cNvSpPr/>
          <p:nvPr/>
        </p:nvSpPr>
        <p:spPr>
          <a:xfrm>
            <a:off x="10150602" y="2999232"/>
            <a:ext cx="13461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FAQ parents, questions-réponses, messages clés.</a:t>
            </a:r>
            <a:endParaRPr lang="en-US" sz="1150" dirty="0"/>
          </a:p>
        </p:txBody>
      </p:sp>
      <p:sp>
        <p:nvSpPr>
          <p:cNvPr id="38" name="Shape 36"/>
          <p:cNvSpPr/>
          <p:nvPr/>
        </p:nvSpPr>
        <p:spPr>
          <a:xfrm>
            <a:off x="566928" y="6144768"/>
            <a:ext cx="11057839" cy="457200"/>
          </a:xfrm>
          <a:prstGeom prst="roundRect">
            <a:avLst>
              <a:gd name="adj" fmla="val 12000"/>
            </a:avLst>
          </a:prstGeom>
          <a:solidFill>
            <a:srgbClr val="F7EFD9"/>
          </a:solidFill>
          <a:ln/>
        </p:spPr>
      </p:sp>
      <p:sp>
        <p:nvSpPr>
          <p:cNvPr id="39" name="Shape 37"/>
          <p:cNvSpPr/>
          <p:nvPr/>
        </p:nvSpPr>
        <p:spPr>
          <a:xfrm>
            <a:off x="566928" y="6144768"/>
            <a:ext cx="64008" cy="457200"/>
          </a:xfrm>
          <a:prstGeom prst="rect">
            <a:avLst/>
          </a:prstGeom>
          <a:solidFill>
            <a:srgbClr val="D99A1E"/>
          </a:solidFill>
          <a:ln/>
        </p:spPr>
      </p:sp>
      <p:sp>
        <p:nvSpPr>
          <p:cNvPr id="40" name="Text 38"/>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L'objectif n'est pas de publier plus. C'est de communiquer mieux.</a:t>
            </a:r>
            <a:endParaRPr lang="en-US" sz="1150" dirty="0"/>
          </a:p>
        </p:txBody>
      </p:sp>
      <p:sp>
        <p:nvSpPr>
          <p:cNvPr id="41" name="Text 39"/>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42" name="Text 40"/>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06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Deux champs d'application immédiats</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L'IA peut soutenir à la fois la mission éducative et la mission pastorale.</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Text 6"/>
          <p:cNvSpPr/>
          <p:nvPr/>
        </p:nvSpPr>
        <p:spPr>
          <a:xfrm>
            <a:off x="566928" y="2139696"/>
            <a:ext cx="11057839" cy="1865376"/>
          </a:xfrm>
          <a:prstGeom prst="rect">
            <a:avLst/>
          </a:prstGeom>
          <a:noFill/>
          <a:ln/>
        </p:spPr>
        <p:txBody>
          <a:bodyPr wrap="square" rtlCol="0" anchor="t">
            <a:normAutofit/>
          </a:bodyPr>
          <a:lstStyle/>
          <a:p>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Inscriptions et rentrée</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Résultats et réussites</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Notes aux parents</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Orientation et discipline</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Activités pédagogiques</a:t>
            </a:r>
            <a:endParaRPr lang="en-US" sz="1400" dirty="0"/>
          </a:p>
        </p:txBody>
      </p:sp>
      <p:sp>
        <p:nvSpPr>
          <p:cNvPr id="9" name="Text 7"/>
          <p:cNvSpPr/>
          <p:nvPr/>
        </p:nvSpPr>
        <p:spPr>
          <a:xfrm>
            <a:off x="566928" y="4187952"/>
            <a:ext cx="11057839" cy="1865376"/>
          </a:xfrm>
          <a:prstGeom prst="rect">
            <a:avLst/>
          </a:prstGeom>
          <a:noFill/>
          <a:ln/>
        </p:spPr>
        <p:txBody>
          <a:bodyPr wrap="square" rtlCol="0" anchor="t">
            <a:normAutofit/>
          </a:bodyPr>
          <a:lstStyle/>
          <a:p>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Méditations courtes</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Temps liturgiques</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Invitations aux messes</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Messages d'espérance</a:t>
            </a:r>
            <a:pPr algn="l" marL="228600" indent="-228600">
              <a:lnSpc>
                <a:spcPct val="102000"/>
              </a:lnSpc>
              <a:spcAft>
                <a:spcPts val="600"/>
              </a:spcAft>
              <a:buSzPct val="100000"/>
              <a:buChar char="•"/>
            </a:pPr>
            <a:r>
              <a:rPr lang="en-US" sz="1400" dirty="0">
                <a:solidFill>
                  <a:srgbClr val="1B2A22"/>
                </a:solidFill>
                <a:latin typeface="Arial" pitchFamily="34" charset="0"/>
                <a:ea typeface="Arial" pitchFamily="34" charset="-122"/>
                <a:cs typeface="Arial" pitchFamily="34" charset="-120"/>
              </a:rPr>
              <a:t>Supports de retraite</a:t>
            </a:r>
            <a:endParaRPr lang="en-US" sz="1400" dirty="0"/>
          </a:p>
        </p:txBody>
      </p:sp>
      <p:sp>
        <p:nvSpPr>
          <p:cNvPr id="10" name="Shape 8"/>
          <p:cNvSpPr/>
          <p:nvPr/>
        </p:nvSpPr>
        <p:spPr>
          <a:xfrm>
            <a:off x="566928" y="6144768"/>
            <a:ext cx="11057839" cy="457200"/>
          </a:xfrm>
          <a:prstGeom prst="roundRect">
            <a:avLst>
              <a:gd name="adj" fmla="val 12000"/>
            </a:avLst>
          </a:prstGeom>
          <a:solidFill>
            <a:srgbClr val="F7EFD9"/>
          </a:solidFill>
          <a:ln/>
        </p:spPr>
      </p:sp>
      <p:sp>
        <p:nvSpPr>
          <p:cNvPr id="11" name="Shape 9"/>
          <p:cNvSpPr/>
          <p:nvPr/>
        </p:nvSpPr>
        <p:spPr>
          <a:xfrm>
            <a:off x="566928" y="6144768"/>
            <a:ext cx="64008" cy="457200"/>
          </a:xfrm>
          <a:prstGeom prst="rect">
            <a:avLst/>
          </a:prstGeom>
          <a:solidFill>
            <a:srgbClr val="D99A1E"/>
          </a:solidFill>
          <a:ln/>
        </p:spPr>
      </p:sp>
      <p:sp>
        <p:nvSpPr>
          <p:cNvPr id="12" name="Text 10"/>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Dans les deux cas : l'IA assiste, la personne humaine assume.</a:t>
            </a:r>
            <a:endParaRPr lang="en-US" sz="1150" dirty="0"/>
          </a:p>
        </p:txBody>
      </p:sp>
      <p:sp>
        <p:nvSpPr>
          <p:cNvPr id="13" name="Text 11"/>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14" name="Text 12"/>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07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La méthode de travail : 3 verbes</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Un usage responsable suit toujours une chaîne humaine.</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Shape 6"/>
          <p:cNvSpPr/>
          <p:nvPr/>
        </p:nvSpPr>
        <p:spPr>
          <a:xfrm>
            <a:off x="566928" y="2139696"/>
            <a:ext cx="11057839" cy="1207008"/>
          </a:xfrm>
          <a:prstGeom prst="roundRect">
            <a:avLst>
              <a:gd name="adj" fmla="val 4545"/>
            </a:avLst>
          </a:prstGeom>
          <a:solidFill>
            <a:srgbClr val="FFFFFF"/>
          </a:solidFill>
          <a:ln w="12700">
            <a:solidFill>
              <a:srgbClr val="E3E7E3"/>
            </a:solidFill>
            <a:prstDash val="solid"/>
          </a:ln>
        </p:spPr>
      </p:sp>
      <p:sp>
        <p:nvSpPr>
          <p:cNvPr id="9" name="Shape 7"/>
          <p:cNvSpPr/>
          <p:nvPr/>
        </p:nvSpPr>
        <p:spPr>
          <a:xfrm>
            <a:off x="676656" y="2423160"/>
            <a:ext cx="640080" cy="640080"/>
          </a:xfrm>
          <a:prstGeom prst="roundRect">
            <a:avLst>
              <a:gd name="adj" fmla="val 14286"/>
            </a:avLst>
          </a:prstGeom>
          <a:solidFill>
            <a:srgbClr val="176B45"/>
          </a:solidFill>
          <a:ln/>
        </p:spPr>
      </p:sp>
      <p:sp>
        <p:nvSpPr>
          <p:cNvPr id="10" name="Text 8"/>
          <p:cNvSpPr/>
          <p:nvPr/>
        </p:nvSpPr>
        <p:spPr>
          <a:xfrm>
            <a:off x="676656" y="242316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9"/>
          <p:cNvSpPr/>
          <p:nvPr/>
        </p:nvSpPr>
        <p:spPr>
          <a:xfrm>
            <a:off x="1517904" y="2231136"/>
            <a:ext cx="9923983" cy="329184"/>
          </a:xfrm>
          <a:prstGeom prst="rect">
            <a:avLst/>
          </a:prstGeom>
          <a:noFill/>
          <a:ln/>
        </p:spPr>
        <p:txBody>
          <a:bodyPr wrap="square" rtlCol="0" anchor="t">
            <a:normAutofit/>
          </a:bodyPr>
          <a:lstStyle/>
          <a:p>
            <a:pPr algn="l" indent="0" marL="0">
              <a:buNone/>
            </a:pPr>
            <a:r>
              <a:rPr lang="en-US" sz="1500" b="1" dirty="0">
                <a:solidFill>
                  <a:srgbClr val="176B45"/>
                </a:solidFill>
                <a:latin typeface="Arial" pitchFamily="34" charset="0"/>
                <a:ea typeface="Arial" pitchFamily="34" charset="-122"/>
                <a:cs typeface="Arial" pitchFamily="34" charset="-120"/>
              </a:rPr>
              <a:t>Orienter</a:t>
            </a:r>
            <a:endParaRPr lang="en-US" sz="1500" dirty="0"/>
          </a:p>
        </p:txBody>
      </p:sp>
      <p:sp>
        <p:nvSpPr>
          <p:cNvPr id="12" name="Text 10"/>
          <p:cNvSpPr/>
          <p:nvPr/>
        </p:nvSpPr>
        <p:spPr>
          <a:xfrm>
            <a:off x="1517904" y="2542032"/>
            <a:ext cx="9923983" cy="749808"/>
          </a:xfrm>
          <a:prstGeom prst="rect">
            <a:avLst/>
          </a:prstGeom>
          <a:noFill/>
          <a:ln/>
        </p:spPr>
        <p:txBody>
          <a:bodyPr wrap="square" rtlCol="0" anchor="t">
            <a:normAutofit/>
          </a:bodyPr>
          <a:lstStyle/>
          <a:p>
            <a:pPr algn="l" indent="0" marL="0">
              <a:lnSpc>
                <a:spcPct val="100000"/>
              </a:lnSpc>
              <a:buNone/>
            </a:pPr>
            <a:r>
              <a:rPr lang="en-US" sz="1250" dirty="0">
                <a:solidFill>
                  <a:srgbClr val="1B2A22"/>
                </a:solidFill>
                <a:latin typeface="Arial" pitchFamily="34" charset="0"/>
                <a:ea typeface="Arial" pitchFamily="34" charset="-122"/>
                <a:cs typeface="Arial" pitchFamily="34" charset="-120"/>
              </a:rPr>
              <a:t>Donner un rôle, un contexte, une cible et des limites.</a:t>
            </a:r>
            <a:endParaRPr lang="en-US" sz="1250" dirty="0"/>
          </a:p>
        </p:txBody>
      </p:sp>
      <p:sp>
        <p:nvSpPr>
          <p:cNvPr id="13" name="Shape 11"/>
          <p:cNvSpPr/>
          <p:nvPr/>
        </p:nvSpPr>
        <p:spPr>
          <a:xfrm>
            <a:off x="566928" y="3493008"/>
            <a:ext cx="11057839" cy="1207008"/>
          </a:xfrm>
          <a:prstGeom prst="roundRect">
            <a:avLst>
              <a:gd name="adj" fmla="val 4545"/>
            </a:avLst>
          </a:prstGeom>
          <a:solidFill>
            <a:srgbClr val="FFFFFF"/>
          </a:solidFill>
          <a:ln w="12700">
            <a:solidFill>
              <a:srgbClr val="E3E7E3"/>
            </a:solidFill>
            <a:prstDash val="solid"/>
          </a:ln>
        </p:spPr>
      </p:sp>
      <p:sp>
        <p:nvSpPr>
          <p:cNvPr id="14" name="Shape 12"/>
          <p:cNvSpPr/>
          <p:nvPr/>
        </p:nvSpPr>
        <p:spPr>
          <a:xfrm>
            <a:off x="676656" y="3776472"/>
            <a:ext cx="640080" cy="640080"/>
          </a:xfrm>
          <a:prstGeom prst="roundRect">
            <a:avLst>
              <a:gd name="adj" fmla="val 14286"/>
            </a:avLst>
          </a:prstGeom>
          <a:solidFill>
            <a:srgbClr val="176B45"/>
          </a:solidFill>
          <a:ln/>
        </p:spPr>
      </p:sp>
      <p:sp>
        <p:nvSpPr>
          <p:cNvPr id="15" name="Text 13"/>
          <p:cNvSpPr/>
          <p:nvPr/>
        </p:nvSpPr>
        <p:spPr>
          <a:xfrm>
            <a:off x="676656" y="3776472"/>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4"/>
          <p:cNvSpPr/>
          <p:nvPr/>
        </p:nvSpPr>
        <p:spPr>
          <a:xfrm>
            <a:off x="1517904" y="3584448"/>
            <a:ext cx="9923983" cy="329184"/>
          </a:xfrm>
          <a:prstGeom prst="rect">
            <a:avLst/>
          </a:prstGeom>
          <a:noFill/>
          <a:ln/>
        </p:spPr>
        <p:txBody>
          <a:bodyPr wrap="square" rtlCol="0" anchor="t">
            <a:normAutofit/>
          </a:bodyPr>
          <a:lstStyle/>
          <a:p>
            <a:pPr algn="l" indent="0" marL="0">
              <a:buNone/>
            </a:pPr>
            <a:r>
              <a:rPr lang="en-US" sz="1500" b="1" dirty="0">
                <a:solidFill>
                  <a:srgbClr val="176B45"/>
                </a:solidFill>
                <a:latin typeface="Arial" pitchFamily="34" charset="0"/>
                <a:ea typeface="Arial" pitchFamily="34" charset="-122"/>
                <a:cs typeface="Arial" pitchFamily="34" charset="-120"/>
              </a:rPr>
              <a:t>Contrôler</a:t>
            </a:r>
            <a:endParaRPr lang="en-US" sz="1500" dirty="0"/>
          </a:p>
        </p:txBody>
      </p:sp>
      <p:sp>
        <p:nvSpPr>
          <p:cNvPr id="17" name="Text 15"/>
          <p:cNvSpPr/>
          <p:nvPr/>
        </p:nvSpPr>
        <p:spPr>
          <a:xfrm>
            <a:off x="1517904" y="3895344"/>
            <a:ext cx="9923983" cy="749808"/>
          </a:xfrm>
          <a:prstGeom prst="rect">
            <a:avLst/>
          </a:prstGeom>
          <a:noFill/>
          <a:ln/>
        </p:spPr>
        <p:txBody>
          <a:bodyPr wrap="square" rtlCol="0" anchor="t">
            <a:normAutofit/>
          </a:bodyPr>
          <a:lstStyle/>
          <a:p>
            <a:pPr algn="l" indent="0" marL="0">
              <a:lnSpc>
                <a:spcPct val="100000"/>
              </a:lnSpc>
              <a:buNone/>
            </a:pPr>
            <a:r>
              <a:rPr lang="en-US" sz="1250" dirty="0">
                <a:solidFill>
                  <a:srgbClr val="1B2A22"/>
                </a:solidFill>
                <a:latin typeface="Arial" pitchFamily="34" charset="0"/>
                <a:ea typeface="Arial" pitchFamily="34" charset="-122"/>
                <a:cs typeface="Arial" pitchFamily="34" charset="-120"/>
              </a:rPr>
              <a:t>Vérifier les faits, le ton, les données et les risques.</a:t>
            </a:r>
            <a:endParaRPr lang="en-US" sz="1250" dirty="0"/>
          </a:p>
        </p:txBody>
      </p:sp>
      <p:sp>
        <p:nvSpPr>
          <p:cNvPr id="18" name="Shape 16"/>
          <p:cNvSpPr/>
          <p:nvPr/>
        </p:nvSpPr>
        <p:spPr>
          <a:xfrm>
            <a:off x="566928" y="4846320"/>
            <a:ext cx="11057839" cy="1207008"/>
          </a:xfrm>
          <a:prstGeom prst="roundRect">
            <a:avLst>
              <a:gd name="adj" fmla="val 4545"/>
            </a:avLst>
          </a:prstGeom>
          <a:solidFill>
            <a:srgbClr val="FFFFFF"/>
          </a:solidFill>
          <a:ln w="12700">
            <a:solidFill>
              <a:srgbClr val="E3E7E3"/>
            </a:solidFill>
            <a:prstDash val="solid"/>
          </a:ln>
        </p:spPr>
      </p:sp>
      <p:sp>
        <p:nvSpPr>
          <p:cNvPr id="19" name="Shape 17"/>
          <p:cNvSpPr/>
          <p:nvPr/>
        </p:nvSpPr>
        <p:spPr>
          <a:xfrm>
            <a:off x="676656" y="5129784"/>
            <a:ext cx="640080" cy="640080"/>
          </a:xfrm>
          <a:prstGeom prst="roundRect">
            <a:avLst>
              <a:gd name="adj" fmla="val 14286"/>
            </a:avLst>
          </a:prstGeom>
          <a:solidFill>
            <a:srgbClr val="176B45"/>
          </a:solidFill>
          <a:ln/>
        </p:spPr>
      </p:sp>
      <p:sp>
        <p:nvSpPr>
          <p:cNvPr id="20" name="Text 18"/>
          <p:cNvSpPr/>
          <p:nvPr/>
        </p:nvSpPr>
        <p:spPr>
          <a:xfrm>
            <a:off x="676656" y="5129784"/>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9"/>
          <p:cNvSpPr/>
          <p:nvPr/>
        </p:nvSpPr>
        <p:spPr>
          <a:xfrm>
            <a:off x="1517904" y="4937760"/>
            <a:ext cx="9923983" cy="329184"/>
          </a:xfrm>
          <a:prstGeom prst="rect">
            <a:avLst/>
          </a:prstGeom>
          <a:noFill/>
          <a:ln/>
        </p:spPr>
        <p:txBody>
          <a:bodyPr wrap="square" rtlCol="0" anchor="t">
            <a:normAutofit/>
          </a:bodyPr>
          <a:lstStyle/>
          <a:p>
            <a:pPr algn="l" indent="0" marL="0">
              <a:buNone/>
            </a:pPr>
            <a:r>
              <a:rPr lang="en-US" sz="1500" b="1" dirty="0">
                <a:solidFill>
                  <a:srgbClr val="176B45"/>
                </a:solidFill>
                <a:latin typeface="Arial" pitchFamily="34" charset="0"/>
                <a:ea typeface="Arial" pitchFamily="34" charset="-122"/>
                <a:cs typeface="Arial" pitchFamily="34" charset="-120"/>
              </a:rPr>
              <a:t>Humaniser</a:t>
            </a:r>
            <a:endParaRPr lang="en-US" sz="1500" dirty="0"/>
          </a:p>
        </p:txBody>
      </p:sp>
      <p:sp>
        <p:nvSpPr>
          <p:cNvPr id="22" name="Text 20"/>
          <p:cNvSpPr/>
          <p:nvPr/>
        </p:nvSpPr>
        <p:spPr>
          <a:xfrm>
            <a:off x="1517904" y="5248656"/>
            <a:ext cx="9923983" cy="749808"/>
          </a:xfrm>
          <a:prstGeom prst="rect">
            <a:avLst/>
          </a:prstGeom>
          <a:noFill/>
          <a:ln/>
        </p:spPr>
        <p:txBody>
          <a:bodyPr wrap="square" rtlCol="0" anchor="t">
            <a:normAutofit/>
          </a:bodyPr>
          <a:lstStyle/>
          <a:p>
            <a:pPr algn="l" indent="0" marL="0">
              <a:lnSpc>
                <a:spcPct val="100000"/>
              </a:lnSpc>
              <a:buNone/>
            </a:pPr>
            <a:r>
              <a:rPr lang="en-US" sz="1250" dirty="0">
                <a:solidFill>
                  <a:srgbClr val="1B2A22"/>
                </a:solidFill>
                <a:latin typeface="Arial" pitchFamily="34" charset="0"/>
                <a:ea typeface="Arial" pitchFamily="34" charset="-122"/>
                <a:cs typeface="Arial" pitchFamily="34" charset="-120"/>
              </a:rPr>
              <a:t>Ajouter la chaleur, le contexte local et la sensibilité pastorale.</a:t>
            </a:r>
            <a:endParaRPr lang="en-US" sz="1250" dirty="0"/>
          </a:p>
        </p:txBody>
      </p:sp>
      <p:sp>
        <p:nvSpPr>
          <p:cNvPr id="23" name="Shape 21"/>
          <p:cNvSpPr/>
          <p:nvPr/>
        </p:nvSpPr>
        <p:spPr>
          <a:xfrm>
            <a:off x="566928" y="6144768"/>
            <a:ext cx="11057839" cy="457200"/>
          </a:xfrm>
          <a:prstGeom prst="roundRect">
            <a:avLst>
              <a:gd name="adj" fmla="val 12000"/>
            </a:avLst>
          </a:prstGeom>
          <a:solidFill>
            <a:srgbClr val="F7EFD9"/>
          </a:solidFill>
          <a:ln/>
        </p:spPr>
      </p:sp>
      <p:sp>
        <p:nvSpPr>
          <p:cNvPr id="24" name="Shape 22"/>
          <p:cNvSpPr/>
          <p:nvPr/>
        </p:nvSpPr>
        <p:spPr>
          <a:xfrm>
            <a:off x="566928" y="6144768"/>
            <a:ext cx="64008" cy="457200"/>
          </a:xfrm>
          <a:prstGeom prst="rect">
            <a:avLst/>
          </a:prstGeom>
          <a:solidFill>
            <a:srgbClr val="D99A1E"/>
          </a:solidFill>
          <a:ln/>
        </p:spPr>
      </p:sp>
      <p:sp>
        <p:nvSpPr>
          <p:cNvPr id="25" name="Text 23"/>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Produire vite n'est pas suffisant : il faut publier juste.</a:t>
            </a:r>
            <a:endParaRPr lang="en-US" sz="1150" dirty="0"/>
          </a:p>
        </p:txBody>
      </p:sp>
      <p:sp>
        <p:nvSpPr>
          <p:cNvPr id="26" name="Text 24"/>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27" name="Text 25"/>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08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Bien prompter : la méthode P.A.S.T.O.R.A.L.</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Un bon prompt donne à l'IA une mission claire et des garde-fous.</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Text 6"/>
          <p:cNvSpPr/>
          <p:nvPr/>
        </p:nvSpPr>
        <p:spPr>
          <a:xfrm>
            <a:off x="566928" y="2139696"/>
            <a:ext cx="11057839" cy="329184"/>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Huit repères pour un prompt efficace</a:t>
            </a:r>
            <a:endParaRPr lang="en-US" sz="1400" dirty="0"/>
          </a:p>
        </p:txBody>
      </p:sp>
      <p:sp>
        <p:nvSpPr>
          <p:cNvPr id="9" name="Shape 7"/>
          <p:cNvSpPr/>
          <p:nvPr/>
        </p:nvSpPr>
        <p:spPr>
          <a:xfrm>
            <a:off x="566928"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0" name="Shape 8"/>
          <p:cNvSpPr/>
          <p:nvPr/>
        </p:nvSpPr>
        <p:spPr>
          <a:xfrm>
            <a:off x="566928" y="2560320"/>
            <a:ext cx="73152" cy="3493008"/>
          </a:xfrm>
          <a:prstGeom prst="rect">
            <a:avLst/>
          </a:prstGeom>
          <a:solidFill>
            <a:srgbClr val="176B45"/>
          </a:solidFill>
          <a:ln/>
        </p:spPr>
      </p:sp>
      <p:sp>
        <p:nvSpPr>
          <p:cNvPr id="11" name="Text 9"/>
          <p:cNvSpPr/>
          <p:nvPr/>
        </p:nvSpPr>
        <p:spPr>
          <a:xfrm>
            <a:off x="768096"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P</a:t>
            </a:r>
            <a:endParaRPr lang="en-US" sz="3400" dirty="0"/>
          </a:p>
        </p:txBody>
      </p:sp>
      <p:sp>
        <p:nvSpPr>
          <p:cNvPr id="12" name="Text 10"/>
          <p:cNvSpPr/>
          <p:nvPr/>
        </p:nvSpPr>
        <p:spPr>
          <a:xfrm>
            <a:off x="768096"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Public</a:t>
            </a:r>
            <a:endParaRPr lang="en-US" sz="1400" dirty="0"/>
          </a:p>
        </p:txBody>
      </p:sp>
      <p:sp>
        <p:nvSpPr>
          <p:cNvPr id="13" name="Text 11"/>
          <p:cNvSpPr/>
          <p:nvPr/>
        </p:nvSpPr>
        <p:spPr>
          <a:xfrm>
            <a:off x="768096"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À qui parle-t-on ?</a:t>
            </a:r>
            <a:endParaRPr lang="en-US" sz="1150" dirty="0"/>
          </a:p>
        </p:txBody>
      </p:sp>
      <p:sp>
        <p:nvSpPr>
          <p:cNvPr id="14" name="Shape 12"/>
          <p:cNvSpPr/>
          <p:nvPr/>
        </p:nvSpPr>
        <p:spPr>
          <a:xfrm>
            <a:off x="1974304"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5" name="Shape 13"/>
          <p:cNvSpPr/>
          <p:nvPr/>
        </p:nvSpPr>
        <p:spPr>
          <a:xfrm>
            <a:off x="1974304" y="2560320"/>
            <a:ext cx="73152" cy="3493008"/>
          </a:xfrm>
          <a:prstGeom prst="rect">
            <a:avLst/>
          </a:prstGeom>
          <a:solidFill>
            <a:srgbClr val="176B45"/>
          </a:solidFill>
          <a:ln/>
        </p:spPr>
      </p:sp>
      <p:sp>
        <p:nvSpPr>
          <p:cNvPr id="16" name="Text 14"/>
          <p:cNvSpPr/>
          <p:nvPr/>
        </p:nvSpPr>
        <p:spPr>
          <a:xfrm>
            <a:off x="2175472"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A</a:t>
            </a:r>
            <a:endParaRPr lang="en-US" sz="3400" dirty="0"/>
          </a:p>
        </p:txBody>
      </p:sp>
      <p:sp>
        <p:nvSpPr>
          <p:cNvPr id="17" name="Text 15"/>
          <p:cNvSpPr/>
          <p:nvPr/>
        </p:nvSpPr>
        <p:spPr>
          <a:xfrm>
            <a:off x="2175472"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Action</a:t>
            </a:r>
            <a:endParaRPr lang="en-US" sz="1400" dirty="0"/>
          </a:p>
        </p:txBody>
      </p:sp>
      <p:sp>
        <p:nvSpPr>
          <p:cNvPr id="18" name="Text 16"/>
          <p:cNvSpPr/>
          <p:nvPr/>
        </p:nvSpPr>
        <p:spPr>
          <a:xfrm>
            <a:off x="2175472"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Que doit faire la cible ?</a:t>
            </a:r>
            <a:endParaRPr lang="en-US" sz="1150" dirty="0"/>
          </a:p>
        </p:txBody>
      </p:sp>
      <p:sp>
        <p:nvSpPr>
          <p:cNvPr id="19" name="Shape 17"/>
          <p:cNvSpPr/>
          <p:nvPr/>
        </p:nvSpPr>
        <p:spPr>
          <a:xfrm>
            <a:off x="3381680"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0" name="Shape 18"/>
          <p:cNvSpPr/>
          <p:nvPr/>
        </p:nvSpPr>
        <p:spPr>
          <a:xfrm>
            <a:off x="3381680" y="2560320"/>
            <a:ext cx="73152" cy="3493008"/>
          </a:xfrm>
          <a:prstGeom prst="rect">
            <a:avLst/>
          </a:prstGeom>
          <a:solidFill>
            <a:srgbClr val="176B45"/>
          </a:solidFill>
          <a:ln/>
        </p:spPr>
      </p:sp>
      <p:sp>
        <p:nvSpPr>
          <p:cNvPr id="21" name="Text 19"/>
          <p:cNvSpPr/>
          <p:nvPr/>
        </p:nvSpPr>
        <p:spPr>
          <a:xfrm>
            <a:off x="3582848"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S</a:t>
            </a:r>
            <a:endParaRPr lang="en-US" sz="3400" dirty="0"/>
          </a:p>
        </p:txBody>
      </p:sp>
      <p:sp>
        <p:nvSpPr>
          <p:cNvPr id="22" name="Text 20"/>
          <p:cNvSpPr/>
          <p:nvPr/>
        </p:nvSpPr>
        <p:spPr>
          <a:xfrm>
            <a:off x="3582848"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Situation</a:t>
            </a:r>
            <a:endParaRPr lang="en-US" sz="1400" dirty="0"/>
          </a:p>
        </p:txBody>
      </p:sp>
      <p:sp>
        <p:nvSpPr>
          <p:cNvPr id="23" name="Text 21"/>
          <p:cNvSpPr/>
          <p:nvPr/>
        </p:nvSpPr>
        <p:spPr>
          <a:xfrm>
            <a:off x="3582848"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Quel contexte ?</a:t>
            </a:r>
            <a:endParaRPr lang="en-US" sz="1150" dirty="0"/>
          </a:p>
        </p:txBody>
      </p:sp>
      <p:sp>
        <p:nvSpPr>
          <p:cNvPr id="24" name="Shape 22"/>
          <p:cNvSpPr/>
          <p:nvPr/>
        </p:nvSpPr>
        <p:spPr>
          <a:xfrm>
            <a:off x="4789056"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5" name="Shape 23"/>
          <p:cNvSpPr/>
          <p:nvPr/>
        </p:nvSpPr>
        <p:spPr>
          <a:xfrm>
            <a:off x="4789056" y="2560320"/>
            <a:ext cx="73152" cy="3493008"/>
          </a:xfrm>
          <a:prstGeom prst="rect">
            <a:avLst/>
          </a:prstGeom>
          <a:solidFill>
            <a:srgbClr val="176B45"/>
          </a:solidFill>
          <a:ln/>
        </p:spPr>
      </p:sp>
      <p:sp>
        <p:nvSpPr>
          <p:cNvPr id="26" name="Text 24"/>
          <p:cNvSpPr/>
          <p:nvPr/>
        </p:nvSpPr>
        <p:spPr>
          <a:xfrm>
            <a:off x="4990224"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T</a:t>
            </a:r>
            <a:endParaRPr lang="en-US" sz="3400" dirty="0"/>
          </a:p>
        </p:txBody>
      </p:sp>
      <p:sp>
        <p:nvSpPr>
          <p:cNvPr id="27" name="Text 25"/>
          <p:cNvSpPr/>
          <p:nvPr/>
        </p:nvSpPr>
        <p:spPr>
          <a:xfrm>
            <a:off x="4990224"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Ton</a:t>
            </a:r>
            <a:endParaRPr lang="en-US" sz="1400" dirty="0"/>
          </a:p>
        </p:txBody>
      </p:sp>
      <p:sp>
        <p:nvSpPr>
          <p:cNvPr id="28" name="Text 26"/>
          <p:cNvSpPr/>
          <p:nvPr/>
        </p:nvSpPr>
        <p:spPr>
          <a:xfrm>
            <a:off x="4990224"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Quel style ?</a:t>
            </a:r>
            <a:endParaRPr lang="en-US" sz="1150" dirty="0"/>
          </a:p>
        </p:txBody>
      </p:sp>
      <p:sp>
        <p:nvSpPr>
          <p:cNvPr id="29" name="Shape 27"/>
          <p:cNvSpPr/>
          <p:nvPr/>
        </p:nvSpPr>
        <p:spPr>
          <a:xfrm>
            <a:off x="6196432"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30" name="Shape 28"/>
          <p:cNvSpPr/>
          <p:nvPr/>
        </p:nvSpPr>
        <p:spPr>
          <a:xfrm>
            <a:off x="6196432" y="2560320"/>
            <a:ext cx="73152" cy="3493008"/>
          </a:xfrm>
          <a:prstGeom prst="rect">
            <a:avLst/>
          </a:prstGeom>
          <a:solidFill>
            <a:srgbClr val="176B45"/>
          </a:solidFill>
          <a:ln/>
        </p:spPr>
      </p:sp>
      <p:sp>
        <p:nvSpPr>
          <p:cNvPr id="31" name="Text 29"/>
          <p:cNvSpPr/>
          <p:nvPr/>
        </p:nvSpPr>
        <p:spPr>
          <a:xfrm>
            <a:off x="6397600"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O</a:t>
            </a:r>
            <a:endParaRPr lang="en-US" sz="3400" dirty="0"/>
          </a:p>
        </p:txBody>
      </p:sp>
      <p:sp>
        <p:nvSpPr>
          <p:cNvPr id="32" name="Text 30"/>
          <p:cNvSpPr/>
          <p:nvPr/>
        </p:nvSpPr>
        <p:spPr>
          <a:xfrm>
            <a:off x="6397600"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Objectif</a:t>
            </a:r>
            <a:endParaRPr lang="en-US" sz="1400" dirty="0"/>
          </a:p>
        </p:txBody>
      </p:sp>
      <p:sp>
        <p:nvSpPr>
          <p:cNvPr id="33" name="Text 31"/>
          <p:cNvSpPr/>
          <p:nvPr/>
        </p:nvSpPr>
        <p:spPr>
          <a:xfrm>
            <a:off x="6397600"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Quel but ?</a:t>
            </a:r>
            <a:endParaRPr lang="en-US" sz="1150" dirty="0"/>
          </a:p>
        </p:txBody>
      </p:sp>
      <p:sp>
        <p:nvSpPr>
          <p:cNvPr id="34" name="Shape 32"/>
          <p:cNvSpPr/>
          <p:nvPr/>
        </p:nvSpPr>
        <p:spPr>
          <a:xfrm>
            <a:off x="7603808"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35" name="Shape 33"/>
          <p:cNvSpPr/>
          <p:nvPr/>
        </p:nvSpPr>
        <p:spPr>
          <a:xfrm>
            <a:off x="7603808" y="2560320"/>
            <a:ext cx="73152" cy="3493008"/>
          </a:xfrm>
          <a:prstGeom prst="rect">
            <a:avLst/>
          </a:prstGeom>
          <a:solidFill>
            <a:srgbClr val="176B45"/>
          </a:solidFill>
          <a:ln/>
        </p:spPr>
      </p:sp>
      <p:sp>
        <p:nvSpPr>
          <p:cNvPr id="36" name="Text 34"/>
          <p:cNvSpPr/>
          <p:nvPr/>
        </p:nvSpPr>
        <p:spPr>
          <a:xfrm>
            <a:off x="7804976"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R</a:t>
            </a:r>
            <a:endParaRPr lang="en-US" sz="3400" dirty="0"/>
          </a:p>
        </p:txBody>
      </p:sp>
      <p:sp>
        <p:nvSpPr>
          <p:cNvPr id="37" name="Text 35"/>
          <p:cNvSpPr/>
          <p:nvPr/>
        </p:nvSpPr>
        <p:spPr>
          <a:xfrm>
            <a:off x="7804976"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Règles</a:t>
            </a:r>
            <a:endParaRPr lang="en-US" sz="1400" dirty="0"/>
          </a:p>
        </p:txBody>
      </p:sp>
      <p:sp>
        <p:nvSpPr>
          <p:cNvPr id="38" name="Text 36"/>
          <p:cNvSpPr/>
          <p:nvPr/>
        </p:nvSpPr>
        <p:spPr>
          <a:xfrm>
            <a:off x="7804976"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Quelles limites ?</a:t>
            </a:r>
            <a:endParaRPr lang="en-US" sz="1150" dirty="0"/>
          </a:p>
        </p:txBody>
      </p:sp>
      <p:sp>
        <p:nvSpPr>
          <p:cNvPr id="39" name="Shape 37"/>
          <p:cNvSpPr/>
          <p:nvPr/>
        </p:nvSpPr>
        <p:spPr>
          <a:xfrm>
            <a:off x="9011183"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40" name="Shape 38"/>
          <p:cNvSpPr/>
          <p:nvPr/>
        </p:nvSpPr>
        <p:spPr>
          <a:xfrm>
            <a:off x="9011183" y="2560320"/>
            <a:ext cx="73152" cy="3493008"/>
          </a:xfrm>
          <a:prstGeom prst="rect">
            <a:avLst/>
          </a:prstGeom>
          <a:solidFill>
            <a:srgbClr val="176B45"/>
          </a:solidFill>
          <a:ln/>
        </p:spPr>
      </p:sp>
      <p:sp>
        <p:nvSpPr>
          <p:cNvPr id="41" name="Text 39"/>
          <p:cNvSpPr/>
          <p:nvPr/>
        </p:nvSpPr>
        <p:spPr>
          <a:xfrm>
            <a:off x="9212351"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A</a:t>
            </a:r>
            <a:endParaRPr lang="en-US" sz="3400" dirty="0"/>
          </a:p>
        </p:txBody>
      </p:sp>
      <p:sp>
        <p:nvSpPr>
          <p:cNvPr id="42" name="Text 40"/>
          <p:cNvSpPr/>
          <p:nvPr/>
        </p:nvSpPr>
        <p:spPr>
          <a:xfrm>
            <a:off x="9212351"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Adaptation</a:t>
            </a:r>
            <a:endParaRPr lang="en-US" sz="1400" dirty="0"/>
          </a:p>
        </p:txBody>
      </p:sp>
      <p:sp>
        <p:nvSpPr>
          <p:cNvPr id="43" name="Text 41"/>
          <p:cNvSpPr/>
          <p:nvPr/>
        </p:nvSpPr>
        <p:spPr>
          <a:xfrm>
            <a:off x="9212351"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Quels formats ?</a:t>
            </a:r>
            <a:endParaRPr lang="en-US" sz="1150" dirty="0"/>
          </a:p>
        </p:txBody>
      </p:sp>
      <p:sp>
        <p:nvSpPr>
          <p:cNvPr id="44" name="Shape 42"/>
          <p:cNvSpPr/>
          <p:nvPr/>
        </p:nvSpPr>
        <p:spPr>
          <a:xfrm>
            <a:off x="10418559" y="2560320"/>
            <a:ext cx="1206208" cy="3493008"/>
          </a:xfrm>
          <a:prstGeom prst="roundRect">
            <a:avLst>
              <a:gd name="adj" fmla="val 6065"/>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45" name="Shape 43"/>
          <p:cNvSpPr/>
          <p:nvPr/>
        </p:nvSpPr>
        <p:spPr>
          <a:xfrm>
            <a:off x="10418559" y="2560320"/>
            <a:ext cx="73152" cy="3493008"/>
          </a:xfrm>
          <a:prstGeom prst="rect">
            <a:avLst/>
          </a:prstGeom>
          <a:solidFill>
            <a:srgbClr val="176B45"/>
          </a:solidFill>
          <a:ln/>
        </p:spPr>
      </p:sp>
      <p:sp>
        <p:nvSpPr>
          <p:cNvPr id="46" name="Text 44"/>
          <p:cNvSpPr/>
          <p:nvPr/>
        </p:nvSpPr>
        <p:spPr>
          <a:xfrm>
            <a:off x="10619727" y="2688336"/>
            <a:ext cx="877024"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L</a:t>
            </a:r>
            <a:endParaRPr lang="en-US" sz="3400" dirty="0"/>
          </a:p>
        </p:txBody>
      </p:sp>
      <p:sp>
        <p:nvSpPr>
          <p:cNvPr id="47" name="Text 45"/>
          <p:cNvSpPr/>
          <p:nvPr/>
        </p:nvSpPr>
        <p:spPr>
          <a:xfrm>
            <a:off x="10619727" y="3291840"/>
            <a:ext cx="877024"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Lecture</a:t>
            </a:r>
            <a:endParaRPr lang="en-US" sz="1400" dirty="0"/>
          </a:p>
        </p:txBody>
      </p:sp>
      <p:sp>
        <p:nvSpPr>
          <p:cNvPr id="48" name="Text 46"/>
          <p:cNvSpPr/>
          <p:nvPr/>
        </p:nvSpPr>
        <p:spPr>
          <a:xfrm>
            <a:off x="10619727" y="3657600"/>
            <a:ext cx="877024" cy="2395728"/>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Qui relit ?</a:t>
            </a:r>
            <a:endParaRPr lang="en-US" sz="1150" dirty="0"/>
          </a:p>
        </p:txBody>
      </p:sp>
      <p:sp>
        <p:nvSpPr>
          <p:cNvPr id="49" name="Shape 47"/>
          <p:cNvSpPr/>
          <p:nvPr/>
        </p:nvSpPr>
        <p:spPr>
          <a:xfrm>
            <a:off x="566928" y="6144768"/>
            <a:ext cx="11057839" cy="457200"/>
          </a:xfrm>
          <a:prstGeom prst="roundRect">
            <a:avLst>
              <a:gd name="adj" fmla="val 12000"/>
            </a:avLst>
          </a:prstGeom>
          <a:solidFill>
            <a:srgbClr val="F7EFD9"/>
          </a:solidFill>
          <a:ln/>
        </p:spPr>
      </p:sp>
      <p:sp>
        <p:nvSpPr>
          <p:cNvPr id="50" name="Shape 48"/>
          <p:cNvSpPr/>
          <p:nvPr/>
        </p:nvSpPr>
        <p:spPr>
          <a:xfrm>
            <a:off x="566928" y="6144768"/>
            <a:ext cx="64008" cy="457200"/>
          </a:xfrm>
          <a:prstGeom prst="rect">
            <a:avLst/>
          </a:prstGeom>
          <a:solidFill>
            <a:srgbClr val="D99A1E"/>
          </a:solidFill>
          <a:ln/>
        </p:spPr>
      </p:sp>
      <p:sp>
        <p:nvSpPr>
          <p:cNvPr id="51" name="Text 49"/>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Exigence clé : « N'invente aucune information ; utilise des crochets pour les éléments manquants. »</a:t>
            </a:r>
            <a:endParaRPr lang="en-US" sz="1150" dirty="0"/>
          </a:p>
        </p:txBody>
      </p:sp>
      <p:sp>
        <p:nvSpPr>
          <p:cNvPr id="52" name="Text 50"/>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53" name="Text 51"/>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09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Exemple d'usage : transformer une intention en message publiable</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Le prompt doit préciser le cadre avant de demander le texte.</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Text 6"/>
          <p:cNvSpPr/>
          <p:nvPr/>
        </p:nvSpPr>
        <p:spPr>
          <a:xfrm>
            <a:off x="566928" y="2139696"/>
            <a:ext cx="11057839" cy="1755648"/>
          </a:xfrm>
          <a:prstGeom prst="rect">
            <a:avLst/>
          </a:prstGeom>
          <a:noFill/>
          <a:ln/>
        </p:spPr>
        <p:txBody>
          <a:bodyPr wrap="square" rtlCol="0" anchor="t">
            <a:normAutofit/>
          </a:bodyPr>
          <a:lstStyle/>
          <a:p>
            <a:pPr algn="l" indent="0" marL="0">
              <a:lnSpc>
                <a:spcPct val="105000"/>
              </a:lnSpc>
              <a:buNone/>
            </a:pPr>
            <a:r>
              <a:rPr lang="en-US" sz="1350" i="1" dirty="0">
                <a:solidFill>
                  <a:srgbClr val="5A6660"/>
                </a:solidFill>
                <a:latin typeface="Arial" pitchFamily="34" charset="0"/>
                <a:ea typeface="Arial" pitchFamily="34" charset="-122"/>
                <a:cs typeface="Arial" pitchFamily="34" charset="-120"/>
              </a:rPr>
              <a:t>Intention — Annoncer les inscriptions dans un établissement catholique.</a:t>
            </a:r>
            <a:endParaRPr lang="en-US" sz="1350" dirty="0"/>
          </a:p>
        </p:txBody>
      </p:sp>
      <p:sp>
        <p:nvSpPr>
          <p:cNvPr id="9" name="Shape 7"/>
          <p:cNvSpPr/>
          <p:nvPr/>
        </p:nvSpPr>
        <p:spPr>
          <a:xfrm>
            <a:off x="566928" y="4078224"/>
            <a:ext cx="11057839" cy="1975104"/>
          </a:xfrm>
          <a:prstGeom prst="roundRect">
            <a:avLst>
              <a:gd name="adj" fmla="val 3241"/>
            </a:avLst>
          </a:prstGeom>
          <a:solidFill>
            <a:srgbClr val="E9EEFA"/>
          </a:solidFill>
          <a:ln/>
        </p:spPr>
      </p:sp>
      <p:sp>
        <p:nvSpPr>
          <p:cNvPr id="10" name="Shape 8"/>
          <p:cNvSpPr/>
          <p:nvPr/>
        </p:nvSpPr>
        <p:spPr>
          <a:xfrm>
            <a:off x="566928" y="4078224"/>
            <a:ext cx="73152" cy="1975104"/>
          </a:xfrm>
          <a:prstGeom prst="rect">
            <a:avLst/>
          </a:prstGeom>
          <a:solidFill>
            <a:srgbClr val="1E40AF"/>
          </a:solidFill>
          <a:ln/>
        </p:spPr>
      </p:sp>
      <p:sp>
        <p:nvSpPr>
          <p:cNvPr id="11" name="Text 9"/>
          <p:cNvSpPr/>
          <p:nvPr/>
        </p:nvSpPr>
        <p:spPr>
          <a:xfrm>
            <a:off x="786384" y="4078224"/>
            <a:ext cx="10655503" cy="1975104"/>
          </a:xfrm>
          <a:prstGeom prst="rect">
            <a:avLst/>
          </a:prstGeom>
          <a:noFill/>
          <a:ln/>
        </p:spPr>
        <p:txBody>
          <a:bodyPr wrap="square" rtlCol="0" anchor="ctr">
            <a:normAutofit/>
          </a:bodyPr>
          <a:lstStyle/>
          <a:p>
            <a:pPr algn="l" indent="0" marL="0">
              <a:lnSpc>
                <a:spcPct val="102000"/>
              </a:lnSpc>
              <a:buNone/>
            </a:pPr>
            <a:r>
              <a:rPr lang="en-US" sz="1400" b="1" dirty="0">
                <a:solidFill>
                  <a:srgbClr val="1B2A22"/>
                </a:solidFill>
                <a:latin typeface="Arial" pitchFamily="34" charset="0"/>
                <a:ea typeface="Arial" pitchFamily="34" charset="-122"/>
                <a:cs typeface="Arial" pitchFamily="34" charset="-120"/>
              </a:rPr>
              <a:t>Prompt — Agis comme un assistant de communication pour une école catholique. Rédige une publication destinée aux parents. Ton professionnel, chaleureux et pastoral. Ne promets pas la réussite automatique. N'invente aucune date. Prévois une version WhatsApp et une version Facebook.</a:t>
            </a:r>
            <a:endParaRPr lang="en-US" sz="1400" dirty="0"/>
          </a:p>
        </p:txBody>
      </p:sp>
      <p:sp>
        <p:nvSpPr>
          <p:cNvPr id="12" name="Shape 10"/>
          <p:cNvSpPr/>
          <p:nvPr/>
        </p:nvSpPr>
        <p:spPr>
          <a:xfrm>
            <a:off x="566928" y="6144768"/>
            <a:ext cx="11057839" cy="457200"/>
          </a:xfrm>
          <a:prstGeom prst="roundRect">
            <a:avLst>
              <a:gd name="adj" fmla="val 12000"/>
            </a:avLst>
          </a:prstGeom>
          <a:solidFill>
            <a:srgbClr val="F7EFD9"/>
          </a:solidFill>
          <a:ln/>
        </p:spPr>
      </p:sp>
      <p:sp>
        <p:nvSpPr>
          <p:cNvPr id="13" name="Shape 11"/>
          <p:cNvSpPr/>
          <p:nvPr/>
        </p:nvSpPr>
        <p:spPr>
          <a:xfrm>
            <a:off x="566928" y="6144768"/>
            <a:ext cx="64008" cy="457200"/>
          </a:xfrm>
          <a:prstGeom prst="rect">
            <a:avLst/>
          </a:prstGeom>
          <a:solidFill>
            <a:srgbClr val="D99A1E"/>
          </a:solidFill>
          <a:ln/>
        </p:spPr>
      </p:sp>
      <p:sp>
        <p:nvSpPr>
          <p:cNvPr id="14" name="Text 12"/>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Le résultat final sera relu, corrigé et validé avant publication.</a:t>
            </a:r>
            <a:endParaRPr lang="en-US" sz="1150" dirty="0"/>
          </a:p>
        </p:txBody>
      </p:sp>
      <p:sp>
        <p:nvSpPr>
          <p:cNvPr id="15" name="Text 13"/>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16" name="Text 14"/>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10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Les risques à maîtriser</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Ce qui est généré rapidement peut se diffuser rapidement — avec ses erreurs.</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Shape 6"/>
          <p:cNvSpPr/>
          <p:nvPr/>
        </p:nvSpPr>
        <p:spPr>
          <a:xfrm>
            <a:off x="566928"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9" name="Shape 7"/>
          <p:cNvSpPr/>
          <p:nvPr/>
        </p:nvSpPr>
        <p:spPr>
          <a:xfrm>
            <a:off x="566928" y="2139696"/>
            <a:ext cx="73152" cy="3913632"/>
          </a:xfrm>
          <a:prstGeom prst="rect">
            <a:avLst/>
          </a:prstGeom>
          <a:solidFill>
            <a:srgbClr val="176B45"/>
          </a:solidFill>
          <a:ln/>
        </p:spPr>
      </p:sp>
      <p:sp>
        <p:nvSpPr>
          <p:cNvPr id="10" name="Text 8"/>
          <p:cNvSpPr/>
          <p:nvPr/>
        </p:nvSpPr>
        <p:spPr>
          <a:xfrm>
            <a:off x="768096" y="2286000"/>
            <a:ext cx="17214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RISQUE</a:t>
            </a:r>
            <a:endParaRPr lang="en-US" sz="1100" dirty="0"/>
          </a:p>
        </p:txBody>
      </p:sp>
      <p:sp>
        <p:nvSpPr>
          <p:cNvPr id="11" name="Text 9"/>
          <p:cNvSpPr/>
          <p:nvPr/>
        </p:nvSpPr>
        <p:spPr>
          <a:xfrm>
            <a:off x="768096" y="2560320"/>
            <a:ext cx="17214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Fausse information</a:t>
            </a:r>
            <a:endParaRPr lang="en-US" sz="1450" dirty="0"/>
          </a:p>
        </p:txBody>
      </p:sp>
      <p:sp>
        <p:nvSpPr>
          <p:cNvPr id="12" name="Text 10"/>
          <p:cNvSpPr/>
          <p:nvPr/>
        </p:nvSpPr>
        <p:spPr>
          <a:xfrm>
            <a:off x="768096" y="2999232"/>
            <a:ext cx="17214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Dates, chiffres, citations inventés.</a:t>
            </a:r>
            <a:endParaRPr lang="en-US" sz="1150" dirty="0"/>
          </a:p>
        </p:txBody>
      </p:sp>
      <p:sp>
        <p:nvSpPr>
          <p:cNvPr id="13" name="Shape 11"/>
          <p:cNvSpPr/>
          <p:nvPr/>
        </p:nvSpPr>
        <p:spPr>
          <a:xfrm>
            <a:off x="2818729"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4" name="Shape 12"/>
          <p:cNvSpPr/>
          <p:nvPr/>
        </p:nvSpPr>
        <p:spPr>
          <a:xfrm>
            <a:off x="2818729" y="2139696"/>
            <a:ext cx="73152" cy="3913632"/>
          </a:xfrm>
          <a:prstGeom prst="rect">
            <a:avLst/>
          </a:prstGeom>
          <a:solidFill>
            <a:srgbClr val="176B45"/>
          </a:solidFill>
          <a:ln/>
        </p:spPr>
      </p:sp>
      <p:sp>
        <p:nvSpPr>
          <p:cNvPr id="15" name="Text 13"/>
          <p:cNvSpPr/>
          <p:nvPr/>
        </p:nvSpPr>
        <p:spPr>
          <a:xfrm>
            <a:off x="3019897" y="2286000"/>
            <a:ext cx="17214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RISQUE</a:t>
            </a:r>
            <a:endParaRPr lang="en-US" sz="1100" dirty="0"/>
          </a:p>
        </p:txBody>
      </p:sp>
      <p:sp>
        <p:nvSpPr>
          <p:cNvPr id="16" name="Text 14"/>
          <p:cNvSpPr/>
          <p:nvPr/>
        </p:nvSpPr>
        <p:spPr>
          <a:xfrm>
            <a:off x="3019897" y="2560320"/>
            <a:ext cx="17214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Ton inadapté</a:t>
            </a:r>
            <a:endParaRPr lang="en-US" sz="1450" dirty="0"/>
          </a:p>
        </p:txBody>
      </p:sp>
      <p:sp>
        <p:nvSpPr>
          <p:cNvPr id="17" name="Text 15"/>
          <p:cNvSpPr/>
          <p:nvPr/>
        </p:nvSpPr>
        <p:spPr>
          <a:xfrm>
            <a:off x="3019897" y="2999232"/>
            <a:ext cx="17214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Froid, commercial, agressif.</a:t>
            </a:r>
            <a:endParaRPr lang="en-US" sz="1150" dirty="0"/>
          </a:p>
        </p:txBody>
      </p:sp>
      <p:sp>
        <p:nvSpPr>
          <p:cNvPr id="18" name="Shape 16"/>
          <p:cNvSpPr/>
          <p:nvPr/>
        </p:nvSpPr>
        <p:spPr>
          <a:xfrm>
            <a:off x="5070531"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9" name="Shape 17"/>
          <p:cNvSpPr/>
          <p:nvPr/>
        </p:nvSpPr>
        <p:spPr>
          <a:xfrm>
            <a:off x="5070531" y="2139696"/>
            <a:ext cx="73152" cy="3913632"/>
          </a:xfrm>
          <a:prstGeom prst="rect">
            <a:avLst/>
          </a:prstGeom>
          <a:solidFill>
            <a:srgbClr val="176B45"/>
          </a:solidFill>
          <a:ln/>
        </p:spPr>
      </p:sp>
      <p:sp>
        <p:nvSpPr>
          <p:cNvPr id="20" name="Text 18"/>
          <p:cNvSpPr/>
          <p:nvPr/>
        </p:nvSpPr>
        <p:spPr>
          <a:xfrm>
            <a:off x="5271699" y="2286000"/>
            <a:ext cx="17214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RISQUE</a:t>
            </a:r>
            <a:endParaRPr lang="en-US" sz="1100" dirty="0"/>
          </a:p>
        </p:txBody>
      </p:sp>
      <p:sp>
        <p:nvSpPr>
          <p:cNvPr id="21" name="Text 19"/>
          <p:cNvSpPr/>
          <p:nvPr/>
        </p:nvSpPr>
        <p:spPr>
          <a:xfrm>
            <a:off x="5271699" y="2560320"/>
            <a:ext cx="17214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Confidentialité</a:t>
            </a:r>
            <a:endParaRPr lang="en-US" sz="1450" dirty="0"/>
          </a:p>
        </p:txBody>
      </p:sp>
      <p:sp>
        <p:nvSpPr>
          <p:cNvPr id="22" name="Text 20"/>
          <p:cNvSpPr/>
          <p:nvPr/>
        </p:nvSpPr>
        <p:spPr>
          <a:xfrm>
            <a:off x="5271699" y="2999232"/>
            <a:ext cx="17214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Données d'élèves, conflits, santé.</a:t>
            </a:r>
            <a:endParaRPr lang="en-US" sz="1150" dirty="0"/>
          </a:p>
        </p:txBody>
      </p:sp>
      <p:sp>
        <p:nvSpPr>
          <p:cNvPr id="23" name="Shape 21"/>
          <p:cNvSpPr/>
          <p:nvPr/>
        </p:nvSpPr>
        <p:spPr>
          <a:xfrm>
            <a:off x="7322332"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4" name="Shape 22"/>
          <p:cNvSpPr/>
          <p:nvPr/>
        </p:nvSpPr>
        <p:spPr>
          <a:xfrm>
            <a:off x="7322332" y="2139696"/>
            <a:ext cx="73152" cy="3913632"/>
          </a:xfrm>
          <a:prstGeom prst="rect">
            <a:avLst/>
          </a:prstGeom>
          <a:solidFill>
            <a:srgbClr val="176B45"/>
          </a:solidFill>
          <a:ln/>
        </p:spPr>
      </p:sp>
      <p:sp>
        <p:nvSpPr>
          <p:cNvPr id="25" name="Text 23"/>
          <p:cNvSpPr/>
          <p:nvPr/>
        </p:nvSpPr>
        <p:spPr>
          <a:xfrm>
            <a:off x="7523500" y="2286000"/>
            <a:ext cx="17214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RISQUE</a:t>
            </a:r>
            <a:endParaRPr lang="en-US" sz="1100" dirty="0"/>
          </a:p>
        </p:txBody>
      </p:sp>
      <p:sp>
        <p:nvSpPr>
          <p:cNvPr id="26" name="Text 24"/>
          <p:cNvSpPr/>
          <p:nvPr/>
        </p:nvSpPr>
        <p:spPr>
          <a:xfrm>
            <a:off x="7523500" y="2560320"/>
            <a:ext cx="17214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Manipulation</a:t>
            </a:r>
            <a:endParaRPr lang="en-US" sz="1450" dirty="0"/>
          </a:p>
        </p:txBody>
      </p:sp>
      <p:sp>
        <p:nvSpPr>
          <p:cNvPr id="27" name="Text 25"/>
          <p:cNvSpPr/>
          <p:nvPr/>
        </p:nvSpPr>
        <p:spPr>
          <a:xfrm>
            <a:off x="7523500" y="2999232"/>
            <a:ext cx="17214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Promesses irréalistes, pression.</a:t>
            </a:r>
            <a:endParaRPr lang="en-US" sz="1150" dirty="0"/>
          </a:p>
        </p:txBody>
      </p:sp>
      <p:sp>
        <p:nvSpPr>
          <p:cNvPr id="28" name="Shape 26"/>
          <p:cNvSpPr/>
          <p:nvPr/>
        </p:nvSpPr>
        <p:spPr>
          <a:xfrm>
            <a:off x="9574134"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9" name="Shape 27"/>
          <p:cNvSpPr/>
          <p:nvPr/>
        </p:nvSpPr>
        <p:spPr>
          <a:xfrm>
            <a:off x="9574134" y="2139696"/>
            <a:ext cx="73152" cy="3913632"/>
          </a:xfrm>
          <a:prstGeom prst="rect">
            <a:avLst/>
          </a:prstGeom>
          <a:solidFill>
            <a:srgbClr val="176B45"/>
          </a:solidFill>
          <a:ln/>
        </p:spPr>
      </p:sp>
      <p:sp>
        <p:nvSpPr>
          <p:cNvPr id="30" name="Text 28"/>
          <p:cNvSpPr/>
          <p:nvPr/>
        </p:nvSpPr>
        <p:spPr>
          <a:xfrm>
            <a:off x="9775302" y="2286000"/>
            <a:ext cx="1721449" cy="274320"/>
          </a:xfrm>
          <a:prstGeom prst="rect">
            <a:avLst/>
          </a:prstGeom>
          <a:noFill/>
          <a:ln/>
        </p:spPr>
        <p:txBody>
          <a:bodyPr wrap="square" rtlCol="0" anchor="t">
            <a:normAutofit/>
          </a:bodyPr>
          <a:lstStyle/>
          <a:p>
            <a:pPr algn="l" indent="0" marL="0">
              <a:buNone/>
            </a:pPr>
            <a:r>
              <a:rPr lang="en-US" sz="1100" b="1" spc="100" kern="0" dirty="0">
                <a:solidFill>
                  <a:srgbClr val="D99A1E"/>
                </a:solidFill>
                <a:latin typeface="Arial" pitchFamily="34" charset="0"/>
                <a:ea typeface="Arial" pitchFamily="34" charset="-122"/>
                <a:cs typeface="Arial" pitchFamily="34" charset="-120"/>
              </a:rPr>
              <a:t>RISQUE</a:t>
            </a:r>
            <a:endParaRPr lang="en-US" sz="1100" dirty="0"/>
          </a:p>
        </p:txBody>
      </p:sp>
      <p:sp>
        <p:nvSpPr>
          <p:cNvPr id="31" name="Text 29"/>
          <p:cNvSpPr/>
          <p:nvPr/>
        </p:nvSpPr>
        <p:spPr>
          <a:xfrm>
            <a:off x="9775302" y="2560320"/>
            <a:ext cx="1721449" cy="420624"/>
          </a:xfrm>
          <a:prstGeom prst="rect">
            <a:avLst/>
          </a:prstGeom>
          <a:noFill/>
          <a:ln/>
        </p:spPr>
        <p:txBody>
          <a:bodyPr wrap="square" rtlCol="0" anchor="t">
            <a:normAutofit/>
          </a:bodyPr>
          <a:lstStyle/>
          <a:p>
            <a:pPr algn="l" indent="0" marL="0">
              <a:lnSpc>
                <a:spcPct val="98000"/>
              </a:lnSpc>
              <a:buNone/>
            </a:pPr>
            <a:r>
              <a:rPr lang="en-US" sz="1450" b="1" dirty="0">
                <a:solidFill>
                  <a:srgbClr val="176B45"/>
                </a:solidFill>
                <a:latin typeface="Arial" pitchFamily="34" charset="0"/>
                <a:ea typeface="Arial" pitchFamily="34" charset="-122"/>
                <a:cs typeface="Arial" pitchFamily="34" charset="-120"/>
              </a:rPr>
              <a:t>Perte d'identité</a:t>
            </a:r>
            <a:endParaRPr lang="en-US" sz="1450" dirty="0"/>
          </a:p>
        </p:txBody>
      </p:sp>
      <p:sp>
        <p:nvSpPr>
          <p:cNvPr id="32" name="Text 30"/>
          <p:cNvSpPr/>
          <p:nvPr/>
        </p:nvSpPr>
        <p:spPr>
          <a:xfrm>
            <a:off x="9775302" y="2999232"/>
            <a:ext cx="1721449" cy="3054096"/>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Texte générique sans âme pastorale.</a:t>
            </a:r>
            <a:endParaRPr lang="en-US" sz="1150" dirty="0"/>
          </a:p>
        </p:txBody>
      </p:sp>
      <p:sp>
        <p:nvSpPr>
          <p:cNvPr id="33" name="Shape 31"/>
          <p:cNvSpPr/>
          <p:nvPr/>
        </p:nvSpPr>
        <p:spPr>
          <a:xfrm>
            <a:off x="566928" y="6144768"/>
            <a:ext cx="11057839" cy="457200"/>
          </a:xfrm>
          <a:prstGeom prst="roundRect">
            <a:avLst>
              <a:gd name="adj" fmla="val 12000"/>
            </a:avLst>
          </a:prstGeom>
          <a:solidFill>
            <a:srgbClr val="F7EFD9"/>
          </a:solidFill>
          <a:ln/>
        </p:spPr>
      </p:sp>
      <p:sp>
        <p:nvSpPr>
          <p:cNvPr id="34" name="Shape 32"/>
          <p:cNvSpPr/>
          <p:nvPr/>
        </p:nvSpPr>
        <p:spPr>
          <a:xfrm>
            <a:off x="566928" y="6144768"/>
            <a:ext cx="64008" cy="457200"/>
          </a:xfrm>
          <a:prstGeom prst="rect">
            <a:avLst/>
          </a:prstGeom>
          <a:solidFill>
            <a:srgbClr val="D99A1E"/>
          </a:solidFill>
          <a:ln/>
        </p:spPr>
      </p:sp>
      <p:sp>
        <p:nvSpPr>
          <p:cNvPr id="35" name="Text 33"/>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Aucune production IA ne doit devenir officielle sans contrôle humain.</a:t>
            </a:r>
            <a:endParaRPr lang="en-US" sz="1150" dirty="0"/>
          </a:p>
        </p:txBody>
      </p:sp>
      <p:sp>
        <p:nvSpPr>
          <p:cNvPr id="36" name="Text 34"/>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37" name="Text 35"/>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11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La règle des 5 V avant publication</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Un filtre simple pour sécuriser les contenus aidés par IA.</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Shape 6"/>
          <p:cNvSpPr/>
          <p:nvPr/>
        </p:nvSpPr>
        <p:spPr>
          <a:xfrm>
            <a:off x="566928"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9" name="Shape 7"/>
          <p:cNvSpPr/>
          <p:nvPr/>
        </p:nvSpPr>
        <p:spPr>
          <a:xfrm>
            <a:off x="566928" y="2139696"/>
            <a:ext cx="73152" cy="3913632"/>
          </a:xfrm>
          <a:prstGeom prst="rect">
            <a:avLst/>
          </a:prstGeom>
          <a:solidFill>
            <a:srgbClr val="176B45"/>
          </a:solidFill>
          <a:ln/>
        </p:spPr>
      </p:sp>
      <p:sp>
        <p:nvSpPr>
          <p:cNvPr id="10" name="Text 8"/>
          <p:cNvSpPr/>
          <p:nvPr/>
        </p:nvSpPr>
        <p:spPr>
          <a:xfrm>
            <a:off x="768096" y="2267712"/>
            <a:ext cx="1721449"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V</a:t>
            </a:r>
            <a:endParaRPr lang="en-US" sz="3400" dirty="0"/>
          </a:p>
        </p:txBody>
      </p:sp>
      <p:sp>
        <p:nvSpPr>
          <p:cNvPr id="11" name="Text 9"/>
          <p:cNvSpPr/>
          <p:nvPr/>
        </p:nvSpPr>
        <p:spPr>
          <a:xfrm>
            <a:off x="768096" y="2871216"/>
            <a:ext cx="1721449"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Vérité</a:t>
            </a:r>
            <a:endParaRPr lang="en-US" sz="1400" dirty="0"/>
          </a:p>
        </p:txBody>
      </p:sp>
      <p:sp>
        <p:nvSpPr>
          <p:cNvPr id="12" name="Text 10"/>
          <p:cNvSpPr/>
          <p:nvPr/>
        </p:nvSpPr>
        <p:spPr>
          <a:xfrm>
            <a:off x="768096" y="3236976"/>
            <a:ext cx="1721449" cy="2816352"/>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Les faits sont-ils exacts ?</a:t>
            </a:r>
            <a:endParaRPr lang="en-US" sz="1150" dirty="0"/>
          </a:p>
        </p:txBody>
      </p:sp>
      <p:sp>
        <p:nvSpPr>
          <p:cNvPr id="13" name="Shape 11"/>
          <p:cNvSpPr/>
          <p:nvPr/>
        </p:nvSpPr>
        <p:spPr>
          <a:xfrm>
            <a:off x="2818729"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4" name="Shape 12"/>
          <p:cNvSpPr/>
          <p:nvPr/>
        </p:nvSpPr>
        <p:spPr>
          <a:xfrm>
            <a:off x="2818729" y="2139696"/>
            <a:ext cx="73152" cy="3913632"/>
          </a:xfrm>
          <a:prstGeom prst="rect">
            <a:avLst/>
          </a:prstGeom>
          <a:solidFill>
            <a:srgbClr val="176B45"/>
          </a:solidFill>
          <a:ln/>
        </p:spPr>
      </p:sp>
      <p:sp>
        <p:nvSpPr>
          <p:cNvPr id="15" name="Text 13"/>
          <p:cNvSpPr/>
          <p:nvPr/>
        </p:nvSpPr>
        <p:spPr>
          <a:xfrm>
            <a:off x="3019897" y="2267712"/>
            <a:ext cx="1721449"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V</a:t>
            </a:r>
            <a:endParaRPr lang="en-US" sz="3400" dirty="0"/>
          </a:p>
        </p:txBody>
      </p:sp>
      <p:sp>
        <p:nvSpPr>
          <p:cNvPr id="16" name="Text 14"/>
          <p:cNvSpPr/>
          <p:nvPr/>
        </p:nvSpPr>
        <p:spPr>
          <a:xfrm>
            <a:off x="3019897" y="2871216"/>
            <a:ext cx="1721449"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Valeurs</a:t>
            </a:r>
            <a:endParaRPr lang="en-US" sz="1400" dirty="0"/>
          </a:p>
        </p:txBody>
      </p:sp>
      <p:sp>
        <p:nvSpPr>
          <p:cNvPr id="17" name="Text 15"/>
          <p:cNvSpPr/>
          <p:nvPr/>
        </p:nvSpPr>
        <p:spPr>
          <a:xfrm>
            <a:off x="3019897" y="3236976"/>
            <a:ext cx="1721449" cy="2816352"/>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Le message respecte-t-il l'identité catholique ?</a:t>
            </a:r>
            <a:endParaRPr lang="en-US" sz="1150" dirty="0"/>
          </a:p>
        </p:txBody>
      </p:sp>
      <p:sp>
        <p:nvSpPr>
          <p:cNvPr id="18" name="Shape 16"/>
          <p:cNvSpPr/>
          <p:nvPr/>
        </p:nvSpPr>
        <p:spPr>
          <a:xfrm>
            <a:off x="5070531"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19" name="Shape 17"/>
          <p:cNvSpPr/>
          <p:nvPr/>
        </p:nvSpPr>
        <p:spPr>
          <a:xfrm>
            <a:off x="5070531" y="2139696"/>
            <a:ext cx="73152" cy="3913632"/>
          </a:xfrm>
          <a:prstGeom prst="rect">
            <a:avLst/>
          </a:prstGeom>
          <a:solidFill>
            <a:srgbClr val="176B45"/>
          </a:solidFill>
          <a:ln/>
        </p:spPr>
      </p:sp>
      <p:sp>
        <p:nvSpPr>
          <p:cNvPr id="20" name="Text 18"/>
          <p:cNvSpPr/>
          <p:nvPr/>
        </p:nvSpPr>
        <p:spPr>
          <a:xfrm>
            <a:off x="5271699" y="2267712"/>
            <a:ext cx="1721449"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V</a:t>
            </a:r>
            <a:endParaRPr lang="en-US" sz="3400" dirty="0"/>
          </a:p>
        </p:txBody>
      </p:sp>
      <p:sp>
        <p:nvSpPr>
          <p:cNvPr id="21" name="Text 19"/>
          <p:cNvSpPr/>
          <p:nvPr/>
        </p:nvSpPr>
        <p:spPr>
          <a:xfrm>
            <a:off x="5271699" y="2871216"/>
            <a:ext cx="1721449"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Voix</a:t>
            </a:r>
            <a:endParaRPr lang="en-US" sz="1400" dirty="0"/>
          </a:p>
        </p:txBody>
      </p:sp>
      <p:sp>
        <p:nvSpPr>
          <p:cNvPr id="22" name="Text 20"/>
          <p:cNvSpPr/>
          <p:nvPr/>
        </p:nvSpPr>
        <p:spPr>
          <a:xfrm>
            <a:off x="5271699" y="3236976"/>
            <a:ext cx="1721449" cy="2816352"/>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Le ton ressemble-t-il à notre institution ?</a:t>
            </a:r>
            <a:endParaRPr lang="en-US" sz="1150" dirty="0"/>
          </a:p>
        </p:txBody>
      </p:sp>
      <p:sp>
        <p:nvSpPr>
          <p:cNvPr id="23" name="Shape 21"/>
          <p:cNvSpPr/>
          <p:nvPr/>
        </p:nvSpPr>
        <p:spPr>
          <a:xfrm>
            <a:off x="7322332"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4" name="Shape 22"/>
          <p:cNvSpPr/>
          <p:nvPr/>
        </p:nvSpPr>
        <p:spPr>
          <a:xfrm>
            <a:off x="7322332" y="2139696"/>
            <a:ext cx="73152" cy="3913632"/>
          </a:xfrm>
          <a:prstGeom prst="rect">
            <a:avLst/>
          </a:prstGeom>
          <a:solidFill>
            <a:srgbClr val="176B45"/>
          </a:solidFill>
          <a:ln/>
        </p:spPr>
      </p:sp>
      <p:sp>
        <p:nvSpPr>
          <p:cNvPr id="25" name="Text 23"/>
          <p:cNvSpPr/>
          <p:nvPr/>
        </p:nvSpPr>
        <p:spPr>
          <a:xfrm>
            <a:off x="7523500" y="2267712"/>
            <a:ext cx="1721449"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V</a:t>
            </a:r>
            <a:endParaRPr lang="en-US" sz="3400" dirty="0"/>
          </a:p>
        </p:txBody>
      </p:sp>
      <p:sp>
        <p:nvSpPr>
          <p:cNvPr id="26" name="Text 24"/>
          <p:cNvSpPr/>
          <p:nvPr/>
        </p:nvSpPr>
        <p:spPr>
          <a:xfrm>
            <a:off x="7523500" y="2871216"/>
            <a:ext cx="1721449"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Vie privée</a:t>
            </a:r>
            <a:endParaRPr lang="en-US" sz="1400" dirty="0"/>
          </a:p>
        </p:txBody>
      </p:sp>
      <p:sp>
        <p:nvSpPr>
          <p:cNvPr id="27" name="Text 25"/>
          <p:cNvSpPr/>
          <p:nvPr/>
        </p:nvSpPr>
        <p:spPr>
          <a:xfrm>
            <a:off x="7523500" y="3236976"/>
            <a:ext cx="1721449" cy="2816352"/>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Aucune donnée sensible n'est-elle exposée ?</a:t>
            </a:r>
            <a:endParaRPr lang="en-US" sz="1150" dirty="0"/>
          </a:p>
        </p:txBody>
      </p:sp>
      <p:sp>
        <p:nvSpPr>
          <p:cNvPr id="28" name="Shape 26"/>
          <p:cNvSpPr/>
          <p:nvPr/>
        </p:nvSpPr>
        <p:spPr>
          <a:xfrm>
            <a:off x="9574134" y="2139696"/>
            <a:ext cx="2050633" cy="3913632"/>
          </a:xfrm>
          <a:prstGeom prst="roundRect">
            <a:avLst>
              <a:gd name="adj" fmla="val 3567"/>
            </a:avLst>
          </a:prstGeom>
          <a:solidFill>
            <a:srgbClr val="FFFFFF"/>
          </a:solidFill>
          <a:ln w="12700">
            <a:solidFill>
              <a:srgbClr val="E3E7E3"/>
            </a:solidFill>
            <a:prstDash val="solid"/>
          </a:ln>
          <a:effectLst>
            <a:outerShdw sx="100000" sy="100000" kx="0" ky="0" algn="bl" rotWithShape="0" blurRad="50800" dist="12700" dir="5400000">
              <a:srgbClr val="C8CFC9">
                <a:alpha val="40000"/>
              </a:srgbClr>
            </a:outerShdw>
          </a:effectLst>
        </p:spPr>
      </p:sp>
      <p:sp>
        <p:nvSpPr>
          <p:cNvPr id="29" name="Shape 27"/>
          <p:cNvSpPr/>
          <p:nvPr/>
        </p:nvSpPr>
        <p:spPr>
          <a:xfrm>
            <a:off x="9574134" y="2139696"/>
            <a:ext cx="73152" cy="3913632"/>
          </a:xfrm>
          <a:prstGeom prst="rect">
            <a:avLst/>
          </a:prstGeom>
          <a:solidFill>
            <a:srgbClr val="176B45"/>
          </a:solidFill>
          <a:ln/>
        </p:spPr>
      </p:sp>
      <p:sp>
        <p:nvSpPr>
          <p:cNvPr id="30" name="Text 28"/>
          <p:cNvSpPr/>
          <p:nvPr/>
        </p:nvSpPr>
        <p:spPr>
          <a:xfrm>
            <a:off x="9775302" y="2267712"/>
            <a:ext cx="1721449" cy="640080"/>
          </a:xfrm>
          <a:prstGeom prst="rect">
            <a:avLst/>
          </a:prstGeom>
          <a:noFill/>
          <a:ln/>
        </p:spPr>
        <p:txBody>
          <a:bodyPr wrap="square" rtlCol="0" anchor="t">
            <a:normAutofit/>
          </a:bodyPr>
          <a:lstStyle/>
          <a:p>
            <a:pPr algn="l" indent="0" marL="0">
              <a:buNone/>
            </a:pPr>
            <a:r>
              <a:rPr lang="en-US" sz="3400" b="1" dirty="0">
                <a:solidFill>
                  <a:srgbClr val="D99A1E"/>
                </a:solidFill>
                <a:latin typeface="Arial" pitchFamily="34" charset="0"/>
                <a:ea typeface="Arial" pitchFamily="34" charset="-122"/>
                <a:cs typeface="Arial" pitchFamily="34" charset="-120"/>
              </a:rPr>
              <a:t>V</a:t>
            </a:r>
            <a:endParaRPr lang="en-US" sz="3400" dirty="0"/>
          </a:p>
        </p:txBody>
      </p:sp>
      <p:sp>
        <p:nvSpPr>
          <p:cNvPr id="31" name="Text 29"/>
          <p:cNvSpPr/>
          <p:nvPr/>
        </p:nvSpPr>
        <p:spPr>
          <a:xfrm>
            <a:off x="9775302" y="2871216"/>
            <a:ext cx="1721449" cy="365760"/>
          </a:xfrm>
          <a:prstGeom prst="rect">
            <a:avLst/>
          </a:prstGeom>
          <a:noFill/>
          <a:ln/>
        </p:spPr>
        <p:txBody>
          <a:bodyPr wrap="square" rtlCol="0" anchor="t">
            <a:normAutofit/>
          </a:bodyPr>
          <a:lstStyle/>
          <a:p>
            <a:pPr algn="l" indent="0" marL="0">
              <a:buNone/>
            </a:pPr>
            <a:r>
              <a:rPr lang="en-US" sz="1400" b="1" dirty="0">
                <a:solidFill>
                  <a:srgbClr val="176B45"/>
                </a:solidFill>
                <a:latin typeface="Arial" pitchFamily="34" charset="0"/>
                <a:ea typeface="Arial" pitchFamily="34" charset="-122"/>
                <a:cs typeface="Arial" pitchFamily="34" charset="-120"/>
              </a:rPr>
              <a:t>Validation</a:t>
            </a:r>
            <a:endParaRPr lang="en-US" sz="1400" dirty="0"/>
          </a:p>
        </p:txBody>
      </p:sp>
      <p:sp>
        <p:nvSpPr>
          <p:cNvPr id="32" name="Text 30"/>
          <p:cNvSpPr/>
          <p:nvPr/>
        </p:nvSpPr>
        <p:spPr>
          <a:xfrm>
            <a:off x="9775302" y="3236976"/>
            <a:ext cx="1721449" cy="2816352"/>
          </a:xfrm>
          <a:prstGeom prst="rect">
            <a:avLst/>
          </a:prstGeom>
          <a:noFill/>
          <a:ln/>
        </p:spPr>
        <p:txBody>
          <a:bodyPr wrap="square" rtlCol="0" anchor="t">
            <a:normAutofit/>
          </a:bodyPr>
          <a:lstStyle/>
          <a:p>
            <a:pPr algn="l" indent="0" marL="0">
              <a:lnSpc>
                <a:spcPct val="100000"/>
              </a:lnSpc>
              <a:buNone/>
            </a:pPr>
            <a:r>
              <a:rPr lang="en-US" sz="1150" dirty="0">
                <a:solidFill>
                  <a:srgbClr val="1B2A22"/>
                </a:solidFill>
                <a:latin typeface="Arial" pitchFamily="34" charset="0"/>
                <a:ea typeface="Arial" pitchFamily="34" charset="-122"/>
                <a:cs typeface="Arial" pitchFamily="34" charset="-120"/>
              </a:rPr>
              <a:t>Une autorité a-t-elle relu ?</a:t>
            </a:r>
            <a:endParaRPr lang="en-US" sz="1150" dirty="0"/>
          </a:p>
        </p:txBody>
      </p:sp>
      <p:sp>
        <p:nvSpPr>
          <p:cNvPr id="33" name="Shape 31"/>
          <p:cNvSpPr/>
          <p:nvPr/>
        </p:nvSpPr>
        <p:spPr>
          <a:xfrm>
            <a:off x="566928" y="6144768"/>
            <a:ext cx="11057839" cy="457200"/>
          </a:xfrm>
          <a:prstGeom prst="roundRect">
            <a:avLst>
              <a:gd name="adj" fmla="val 12000"/>
            </a:avLst>
          </a:prstGeom>
          <a:solidFill>
            <a:srgbClr val="F7EFD9"/>
          </a:solidFill>
          <a:ln/>
        </p:spPr>
      </p:sp>
      <p:sp>
        <p:nvSpPr>
          <p:cNvPr id="34" name="Shape 32"/>
          <p:cNvSpPr/>
          <p:nvPr/>
        </p:nvSpPr>
        <p:spPr>
          <a:xfrm>
            <a:off x="566928" y="6144768"/>
            <a:ext cx="64008" cy="457200"/>
          </a:xfrm>
          <a:prstGeom prst="rect">
            <a:avLst/>
          </a:prstGeom>
          <a:solidFill>
            <a:srgbClr val="D99A1E"/>
          </a:solidFill>
          <a:ln/>
        </p:spPr>
      </p:sp>
      <p:sp>
        <p:nvSpPr>
          <p:cNvPr id="35" name="Text 33"/>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Ce filtre transforme l'IA en outil sûr au service de la mission.</a:t>
            </a:r>
            <a:endParaRPr lang="en-US" sz="1150" dirty="0"/>
          </a:p>
        </p:txBody>
      </p:sp>
      <p:sp>
        <p:nvSpPr>
          <p:cNvPr id="36" name="Text 34"/>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37" name="Text 35"/>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76B45"/>
          </a:solidFill>
          <a:ln/>
        </p:spPr>
      </p:sp>
      <p:sp>
        <p:nvSpPr>
          <p:cNvPr id="3" name="Shape 1"/>
          <p:cNvSpPr/>
          <p:nvPr/>
        </p:nvSpPr>
        <p:spPr>
          <a:xfrm>
            <a:off x="0" y="0"/>
            <a:ext cx="2926080" cy="109728"/>
          </a:xfrm>
          <a:prstGeom prst="rect">
            <a:avLst/>
          </a:prstGeom>
          <a:solidFill>
            <a:srgbClr val="D99A1E"/>
          </a:solidFill>
          <a:ln/>
        </p:spPr>
      </p:sp>
      <p:sp>
        <p:nvSpPr>
          <p:cNvPr id="4" name="Text 2"/>
          <p:cNvSpPr/>
          <p:nvPr/>
        </p:nvSpPr>
        <p:spPr>
          <a:xfrm>
            <a:off x="566928" y="310896"/>
            <a:ext cx="5486400" cy="274320"/>
          </a:xfrm>
          <a:prstGeom prst="rect">
            <a:avLst/>
          </a:prstGeom>
          <a:noFill/>
          <a:ln/>
        </p:spPr>
        <p:txBody>
          <a:bodyPr wrap="square" rtlCol="0" anchor="ctr"/>
          <a:lstStyle/>
          <a:p>
            <a:pPr algn="l" indent="0" marL="0">
              <a:buNone/>
            </a:pPr>
            <a:r>
              <a:rPr lang="en-US" sz="1100" b="1" spc="200" kern="0" dirty="0">
                <a:solidFill>
                  <a:srgbClr val="D99A1E"/>
                </a:solidFill>
                <a:latin typeface="Arial" pitchFamily="34" charset="0"/>
                <a:ea typeface="Arial" pitchFamily="34" charset="-122"/>
                <a:cs typeface="Arial" pitchFamily="34" charset="-120"/>
              </a:rPr>
              <a:t>DIAPOSITIVE 12 / 13</a:t>
            </a:r>
            <a:endParaRPr lang="en-US" sz="1100" dirty="0"/>
          </a:p>
        </p:txBody>
      </p:sp>
      <p:sp>
        <p:nvSpPr>
          <p:cNvPr id="5" name="Text 3"/>
          <p:cNvSpPr/>
          <p:nvPr/>
        </p:nvSpPr>
        <p:spPr>
          <a:xfrm>
            <a:off x="566928" y="603504"/>
            <a:ext cx="11057839" cy="841248"/>
          </a:xfrm>
          <a:prstGeom prst="rect">
            <a:avLst/>
          </a:prstGeom>
          <a:noFill/>
          <a:ln/>
        </p:spPr>
        <p:txBody>
          <a:bodyPr wrap="square" rtlCol="0" anchor="t">
            <a:normAutofit/>
          </a:bodyPr>
          <a:lstStyle/>
          <a:p>
            <a:pPr algn="l" indent="0" marL="0">
              <a:lnSpc>
                <a:spcPct val="98000"/>
              </a:lnSpc>
              <a:buNone/>
            </a:pPr>
            <a:r>
              <a:rPr lang="en-US" sz="2600" b="1" dirty="0">
                <a:solidFill>
                  <a:srgbClr val="176B45"/>
                </a:solidFill>
                <a:latin typeface="Arial" pitchFamily="34" charset="0"/>
                <a:ea typeface="Arial" pitchFamily="34" charset="-122"/>
                <a:cs typeface="Arial" pitchFamily="34" charset="-120"/>
              </a:rPr>
              <a:t>Pendant la formation de 2 h 30, les participants apprendront à…</a:t>
            </a:r>
            <a:endParaRPr lang="en-US" sz="2600" dirty="0"/>
          </a:p>
        </p:txBody>
      </p:sp>
      <p:sp>
        <p:nvSpPr>
          <p:cNvPr id="6" name="Text 4"/>
          <p:cNvSpPr/>
          <p:nvPr/>
        </p:nvSpPr>
        <p:spPr>
          <a:xfrm>
            <a:off x="566928" y="1463040"/>
            <a:ext cx="11057839" cy="457200"/>
          </a:xfrm>
          <a:prstGeom prst="rect">
            <a:avLst/>
          </a:prstGeom>
          <a:noFill/>
          <a:ln/>
        </p:spPr>
        <p:txBody>
          <a:bodyPr wrap="square" rtlCol="0" anchor="t">
            <a:normAutofit/>
          </a:bodyPr>
          <a:lstStyle/>
          <a:p>
            <a:pPr algn="l" indent="0" marL="0">
              <a:lnSpc>
                <a:spcPct val="98000"/>
              </a:lnSpc>
              <a:buNone/>
            </a:pPr>
            <a:r>
              <a:rPr lang="en-US" sz="1350" i="1" dirty="0">
                <a:solidFill>
                  <a:srgbClr val="5A6660"/>
                </a:solidFill>
                <a:latin typeface="Arial" pitchFamily="34" charset="0"/>
                <a:ea typeface="Arial" pitchFamily="34" charset="-122"/>
                <a:cs typeface="Arial" pitchFamily="34" charset="-120"/>
              </a:rPr>
              <a:t>La session sera pratique, guidée et orientée vers des productions utilisables.</a:t>
            </a:r>
            <a:endParaRPr lang="en-US" sz="1350" dirty="0"/>
          </a:p>
        </p:txBody>
      </p:sp>
      <p:sp>
        <p:nvSpPr>
          <p:cNvPr id="7" name="Shape 5"/>
          <p:cNvSpPr/>
          <p:nvPr/>
        </p:nvSpPr>
        <p:spPr>
          <a:xfrm>
            <a:off x="566928" y="1975104"/>
            <a:ext cx="1371600" cy="41148"/>
          </a:xfrm>
          <a:prstGeom prst="rect">
            <a:avLst/>
          </a:prstGeom>
          <a:solidFill>
            <a:srgbClr val="D99A1E"/>
          </a:solidFill>
          <a:ln/>
        </p:spPr>
      </p:sp>
      <p:sp>
        <p:nvSpPr>
          <p:cNvPr id="8" name="Text 6"/>
          <p:cNvSpPr/>
          <p:nvPr/>
        </p:nvSpPr>
        <p:spPr>
          <a:xfrm>
            <a:off x="566928" y="2139696"/>
            <a:ext cx="11057839" cy="3913632"/>
          </a:xfrm>
          <a:prstGeom prst="rect">
            <a:avLst/>
          </a:prstGeom>
          <a:noFill/>
          <a:ln/>
        </p:spPr>
        <p:txBody>
          <a:bodyPr wrap="square" rtlCol="0" anchor="t">
            <a:normAutofit/>
          </a:bodyPr>
          <a:lstStyle/>
          <a:p>
            <a:pPr algn="l" marL="342900" indent="-342900">
              <a:lnSpc>
                <a:spcPct val="102000"/>
              </a:lnSpc>
              <a:spcAft>
                <a:spcPts val="600"/>
              </a:spcAft>
              <a:buSzPct val="100000"/>
              <a:buFont typeface="+mj-lt"/>
              <a:buAutoNum type="arabicPeriod" startAt="1"/>
            </a:pPr>
            <a:r>
              <a:rPr lang="en-US" sz="1400" dirty="0">
                <a:solidFill>
                  <a:srgbClr val="1B2A22"/>
                </a:solidFill>
                <a:latin typeface="Arial" pitchFamily="34" charset="0"/>
                <a:ea typeface="Arial" pitchFamily="34" charset="-122"/>
                <a:cs typeface="Arial" pitchFamily="34" charset="-120"/>
              </a:rPr>
              <a:t>Diagnostiquer leur maturité IA</a:t>
            </a:r>
            <a:pPr algn="l" marL="342900" indent="-342900">
              <a:lnSpc>
                <a:spcPct val="102000"/>
              </a:lnSpc>
              <a:spcAft>
                <a:spcPts val="600"/>
              </a:spcAft>
              <a:buSzPct val="100000"/>
              <a:buFont typeface="+mj-lt"/>
              <a:buAutoNum type="arabicPeriod" startAt="1"/>
            </a:pPr>
            <a:r>
              <a:rPr lang="en-US" sz="1400" dirty="0">
                <a:solidFill>
                  <a:srgbClr val="1B2A22"/>
                </a:solidFill>
                <a:latin typeface="Arial" pitchFamily="34" charset="0"/>
                <a:ea typeface="Arial" pitchFamily="34" charset="-122"/>
                <a:cs typeface="Arial" pitchFamily="34" charset="-120"/>
              </a:rPr>
              <a:t>Rédiger des prompts efficaces</a:t>
            </a:r>
            <a:pPr algn="l" marL="342900" indent="-342900">
              <a:lnSpc>
                <a:spcPct val="102000"/>
              </a:lnSpc>
              <a:spcAft>
                <a:spcPts val="600"/>
              </a:spcAft>
              <a:buSzPct val="100000"/>
              <a:buFont typeface="+mj-lt"/>
              <a:buAutoNum type="arabicPeriod" startAt="1"/>
            </a:pPr>
            <a:r>
              <a:rPr lang="en-US" sz="1400" dirty="0">
                <a:solidFill>
                  <a:srgbClr val="1B2A22"/>
                </a:solidFill>
                <a:latin typeface="Arial" pitchFamily="34" charset="0"/>
                <a:ea typeface="Arial" pitchFamily="34" charset="-122"/>
                <a:cs typeface="Arial" pitchFamily="34" charset="-120"/>
              </a:rPr>
              <a:t>Produire un message multicanal</a:t>
            </a:r>
            <a:pPr algn="l" marL="342900" indent="-342900">
              <a:lnSpc>
                <a:spcPct val="102000"/>
              </a:lnSpc>
              <a:spcAft>
                <a:spcPts val="600"/>
              </a:spcAft>
              <a:buSzPct val="100000"/>
              <a:buFont typeface="+mj-lt"/>
              <a:buAutoNum type="arabicPeriod" startAt="1"/>
            </a:pPr>
            <a:r>
              <a:rPr lang="en-US" sz="1400" dirty="0">
                <a:solidFill>
                  <a:srgbClr val="1B2A22"/>
                </a:solidFill>
                <a:latin typeface="Arial" pitchFamily="34" charset="0"/>
                <a:ea typeface="Arial" pitchFamily="34" charset="-122"/>
                <a:cs typeface="Arial" pitchFamily="34" charset="-120"/>
              </a:rPr>
              <a:t>Corriger un texte généré</a:t>
            </a:r>
            <a:pPr algn="l" marL="342900" indent="-342900">
              <a:lnSpc>
                <a:spcPct val="102000"/>
              </a:lnSpc>
              <a:spcAft>
                <a:spcPts val="600"/>
              </a:spcAft>
              <a:buSzPct val="100000"/>
              <a:buFont typeface="+mj-lt"/>
              <a:buAutoNum type="arabicPeriod" startAt="1"/>
            </a:pPr>
            <a:r>
              <a:rPr lang="en-US" sz="1400" dirty="0">
                <a:solidFill>
                  <a:srgbClr val="1B2A22"/>
                </a:solidFill>
                <a:latin typeface="Arial" pitchFamily="34" charset="0"/>
                <a:ea typeface="Arial" pitchFamily="34" charset="-122"/>
                <a:cs typeface="Arial" pitchFamily="34" charset="-120"/>
              </a:rPr>
              <a:t>Repérer les risques éthiques</a:t>
            </a:r>
            <a:pPr algn="l" marL="342900" indent="-342900">
              <a:lnSpc>
                <a:spcPct val="102000"/>
              </a:lnSpc>
              <a:spcAft>
                <a:spcPts val="600"/>
              </a:spcAft>
              <a:buSzPct val="100000"/>
              <a:buFont typeface="+mj-lt"/>
              <a:buAutoNum type="arabicPeriod" startAt="1"/>
            </a:pPr>
            <a:r>
              <a:rPr lang="en-US" sz="1400" dirty="0">
                <a:solidFill>
                  <a:srgbClr val="1B2A22"/>
                </a:solidFill>
                <a:latin typeface="Arial" pitchFamily="34" charset="0"/>
                <a:ea typeface="Arial" pitchFamily="34" charset="-122"/>
                <a:cs typeface="Arial" pitchFamily="34" charset="-120"/>
              </a:rPr>
              <a:t>Construire un protocole IA</a:t>
            </a:r>
            <a:endParaRPr lang="en-US" sz="1400" dirty="0"/>
          </a:p>
        </p:txBody>
      </p:sp>
      <p:sp>
        <p:nvSpPr>
          <p:cNvPr id="9" name="Shape 7"/>
          <p:cNvSpPr/>
          <p:nvPr/>
        </p:nvSpPr>
        <p:spPr>
          <a:xfrm>
            <a:off x="566928" y="6144768"/>
            <a:ext cx="11057839" cy="457200"/>
          </a:xfrm>
          <a:prstGeom prst="roundRect">
            <a:avLst>
              <a:gd name="adj" fmla="val 12000"/>
            </a:avLst>
          </a:prstGeom>
          <a:solidFill>
            <a:srgbClr val="F7EFD9"/>
          </a:solidFill>
          <a:ln/>
        </p:spPr>
      </p:sp>
      <p:sp>
        <p:nvSpPr>
          <p:cNvPr id="10" name="Shape 8"/>
          <p:cNvSpPr/>
          <p:nvPr/>
        </p:nvSpPr>
        <p:spPr>
          <a:xfrm>
            <a:off x="566928" y="6144768"/>
            <a:ext cx="64008" cy="457200"/>
          </a:xfrm>
          <a:prstGeom prst="rect">
            <a:avLst/>
          </a:prstGeom>
          <a:solidFill>
            <a:srgbClr val="D99A1E"/>
          </a:solidFill>
          <a:ln/>
        </p:spPr>
      </p:sp>
      <p:sp>
        <p:nvSpPr>
          <p:cNvPr id="11" name="Text 9"/>
          <p:cNvSpPr/>
          <p:nvPr/>
        </p:nvSpPr>
        <p:spPr>
          <a:xfrm>
            <a:off x="731520" y="6144768"/>
            <a:ext cx="10746943" cy="457200"/>
          </a:xfrm>
          <a:prstGeom prst="rect">
            <a:avLst/>
          </a:prstGeom>
          <a:noFill/>
          <a:ln/>
        </p:spPr>
        <p:txBody>
          <a:bodyPr wrap="square" rtlCol="0" anchor="ctr">
            <a:normAutofit/>
          </a:bodyPr>
          <a:lstStyle/>
          <a:p>
            <a:pPr algn="l" indent="0" marL="0">
              <a:buNone/>
            </a:pPr>
            <a:r>
              <a:rPr lang="en-US" sz="1150" i="1" dirty="0">
                <a:solidFill>
                  <a:srgbClr val="1B2A22"/>
                </a:solidFill>
                <a:latin typeface="Arial" pitchFamily="34" charset="0"/>
                <a:ea typeface="Arial" pitchFamily="34" charset="-122"/>
                <a:cs typeface="Arial" pitchFamily="34" charset="-120"/>
              </a:rPr>
              <a:t>Livrable final : une charte simple d'usage responsable de l'IA pour une cellule de communication.</a:t>
            </a:r>
            <a:endParaRPr lang="en-US" sz="1150" dirty="0"/>
          </a:p>
        </p:txBody>
      </p:sp>
      <p:sp>
        <p:nvSpPr>
          <p:cNvPr id="12" name="Text 10"/>
          <p:cNvSpPr/>
          <p:nvPr/>
        </p:nvSpPr>
        <p:spPr>
          <a:xfrm>
            <a:off x="566928" y="6565392"/>
            <a:ext cx="4572000" cy="237744"/>
          </a:xfrm>
          <a:prstGeom prst="rect">
            <a:avLst/>
          </a:prstGeom>
          <a:noFill/>
          <a:ln/>
        </p:spPr>
        <p:txBody>
          <a:bodyPr wrap="square" rtlCol="0" anchor="ctr"/>
          <a:lstStyle/>
          <a:p>
            <a:pPr algn="l" indent="0" marL="0">
              <a:buNone/>
            </a:pPr>
            <a:r>
              <a:rPr lang="en-US" sz="900" dirty="0">
                <a:solidFill>
                  <a:srgbClr val="5A6660"/>
                </a:solidFill>
                <a:latin typeface="Arial" pitchFamily="34" charset="0"/>
                <a:ea typeface="Arial" pitchFamily="34" charset="-122"/>
                <a:cs typeface="Arial" pitchFamily="34" charset="-120"/>
              </a:rPr>
              <a:t>SENEC · 24 juin 2026</a:t>
            </a:r>
            <a:endParaRPr lang="en-US" sz="900" dirty="0"/>
          </a:p>
        </p:txBody>
      </p:sp>
      <p:sp>
        <p:nvSpPr>
          <p:cNvPr id="13" name="Text 11"/>
          <p:cNvSpPr/>
          <p:nvPr/>
        </p:nvSpPr>
        <p:spPr>
          <a:xfrm>
            <a:off x="9795967" y="6565392"/>
            <a:ext cx="1828800" cy="237744"/>
          </a:xfrm>
          <a:prstGeom prst="rect">
            <a:avLst/>
          </a:prstGeom>
          <a:noFill/>
          <a:ln/>
        </p:spPr>
        <p:txBody>
          <a:bodyPr wrap="square" rtlCol="0" anchor="ctr"/>
          <a:lstStyle/>
          <a:p>
            <a:pPr algn="r" indent="0" marL="0">
              <a:buNone/>
            </a:pPr>
            <a:r>
              <a:rPr lang="en-US" sz="900" b="1" dirty="0">
                <a:solidFill>
                  <a:srgbClr val="5A6660"/>
                </a:solidFill>
                <a:latin typeface="Arial" pitchFamily="34" charset="0"/>
                <a:ea typeface="Arial" pitchFamily="34" charset="-122"/>
                <a:cs typeface="Arial"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1E"/>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D99A1E"/>
          </a:solidFill>
          <a:ln/>
        </p:spPr>
      </p:sp>
      <p:sp>
        <p:nvSpPr>
          <p:cNvPr id="3" name="Text 1"/>
          <p:cNvSpPr/>
          <p:nvPr/>
        </p:nvSpPr>
        <p:spPr>
          <a:xfrm>
            <a:off x="566928" y="640080"/>
            <a:ext cx="11057839" cy="310896"/>
          </a:xfrm>
          <a:prstGeom prst="rect">
            <a:avLst/>
          </a:prstGeom>
          <a:noFill/>
          <a:ln/>
        </p:spPr>
        <p:txBody>
          <a:bodyPr wrap="square" rtlCol="0" anchor="ctr"/>
          <a:lstStyle/>
          <a:p>
            <a:pPr algn="l" indent="0" marL="0">
              <a:buNone/>
            </a:pPr>
            <a:r>
              <a:rPr lang="en-US" sz="1200" b="1" spc="300" kern="0" dirty="0">
                <a:solidFill>
                  <a:srgbClr val="D99A1E"/>
                </a:solidFill>
                <a:latin typeface="Arial" pitchFamily="34" charset="0"/>
                <a:ea typeface="Arial" pitchFamily="34" charset="-122"/>
                <a:cs typeface="Arial" pitchFamily="34" charset="-120"/>
              </a:rPr>
              <a:t>DIAPOSITIVE DE CLÔTURE</a:t>
            </a:r>
            <a:endParaRPr lang="en-US" sz="1200" dirty="0"/>
          </a:p>
        </p:txBody>
      </p:sp>
      <p:sp>
        <p:nvSpPr>
          <p:cNvPr id="4" name="Text 2"/>
          <p:cNvSpPr/>
          <p:nvPr/>
        </p:nvSpPr>
        <p:spPr>
          <a:xfrm>
            <a:off x="566928" y="1024128"/>
            <a:ext cx="11057839" cy="1005840"/>
          </a:xfrm>
          <a:prstGeom prst="rect">
            <a:avLst/>
          </a:prstGeom>
          <a:noFill/>
          <a:ln/>
        </p:spPr>
        <p:txBody>
          <a:bodyPr wrap="square" rtlCol="0" anchor="t">
            <a:normAutofit/>
          </a:bodyPr>
          <a:lstStyle/>
          <a:p>
            <a:pPr algn="l" indent="0" marL="0">
              <a:buNone/>
            </a:pPr>
            <a:r>
              <a:rPr lang="en-US" sz="4400" b="1" dirty="0">
                <a:solidFill>
                  <a:srgbClr val="FFFFFF"/>
                </a:solidFill>
                <a:latin typeface="Arial" pitchFamily="34" charset="0"/>
                <a:ea typeface="Arial" pitchFamily="34" charset="-122"/>
                <a:cs typeface="Arial" pitchFamily="34" charset="-120"/>
              </a:rPr>
              <a:t>Entrer dans l'atelier</a:t>
            </a:r>
            <a:endParaRPr lang="en-US" sz="4400" dirty="0"/>
          </a:p>
        </p:txBody>
      </p:sp>
      <p:sp>
        <p:nvSpPr>
          <p:cNvPr id="5" name="Text 3"/>
          <p:cNvSpPr/>
          <p:nvPr/>
        </p:nvSpPr>
        <p:spPr>
          <a:xfrm>
            <a:off x="566928" y="2011680"/>
            <a:ext cx="11057839" cy="457200"/>
          </a:xfrm>
          <a:prstGeom prst="rect">
            <a:avLst/>
          </a:prstGeom>
          <a:noFill/>
          <a:ln/>
        </p:spPr>
        <p:txBody>
          <a:bodyPr wrap="square" rtlCol="0" anchor="t">
            <a:normAutofit/>
          </a:bodyPr>
          <a:lstStyle/>
          <a:p>
            <a:pPr algn="l" indent="0" marL="0">
              <a:buNone/>
            </a:pPr>
            <a:r>
              <a:rPr lang="en-US" sz="1800" i="1" dirty="0">
                <a:solidFill>
                  <a:srgbClr val="DCE7DF"/>
                </a:solidFill>
                <a:latin typeface="Arial" pitchFamily="34" charset="0"/>
                <a:ea typeface="Arial" pitchFamily="34" charset="-122"/>
                <a:cs typeface="Arial" pitchFamily="34" charset="-120"/>
              </a:rPr>
              <a:t>2 h 30 • Formation pratique</a:t>
            </a:r>
            <a:endParaRPr lang="en-US" sz="1800" dirty="0"/>
          </a:p>
        </p:txBody>
      </p:sp>
      <p:sp>
        <p:nvSpPr>
          <p:cNvPr id="6" name="Shape 4"/>
          <p:cNvSpPr/>
          <p:nvPr/>
        </p:nvSpPr>
        <p:spPr>
          <a:xfrm>
            <a:off x="566928" y="2542032"/>
            <a:ext cx="2194560" cy="54864"/>
          </a:xfrm>
          <a:prstGeom prst="rect">
            <a:avLst/>
          </a:prstGeom>
          <a:solidFill>
            <a:srgbClr val="D99A1E"/>
          </a:solidFill>
          <a:ln/>
        </p:spPr>
      </p:sp>
      <p:sp>
        <p:nvSpPr>
          <p:cNvPr id="7" name="Text 5"/>
          <p:cNvSpPr/>
          <p:nvPr/>
        </p:nvSpPr>
        <p:spPr>
          <a:xfrm>
            <a:off x="566928" y="2834640"/>
            <a:ext cx="11057839" cy="310896"/>
          </a:xfrm>
          <a:prstGeom prst="rect">
            <a:avLst/>
          </a:prstGeom>
          <a:noFill/>
          <a:ln/>
        </p:spPr>
        <p:txBody>
          <a:bodyPr wrap="square" rtlCol="0" anchor="t">
            <a:normAutofit/>
          </a:bodyPr>
          <a:lstStyle/>
          <a:p>
            <a:pPr algn="l" indent="0" marL="0">
              <a:buNone/>
            </a:pPr>
            <a:r>
              <a:rPr lang="en-US" sz="1300" b="1" spc="100" kern="0" dirty="0">
                <a:solidFill>
                  <a:srgbClr val="D99A1E"/>
                </a:solidFill>
                <a:latin typeface="Arial" pitchFamily="34" charset="0"/>
                <a:ea typeface="Arial" pitchFamily="34" charset="-122"/>
                <a:cs typeface="Arial" pitchFamily="34" charset="-120"/>
              </a:rPr>
              <a:t>L'IA PEUT ACCÉLÉRER LA COMMUNICATION ; SEULE L'INTELLIGENCE HUMAINE, ÉCLAIRÉE PAR LA RESPONSABILITÉ ET LA FOI, PEUT L'ORIENTER VERS LA VÉRITÉ, LA PRUDENCE ET LA CHARITÉ.</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SENEC — Secrétariat National de l'Enseignement Catholique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L'intelligence artificielle au service de la communication éducative et pastorale</dc:title>
  <dc:subject>L'intelligence artificielle au service de la communication éducative et pastorale</dc:subject>
  <dc:creator>EduWeb Planner</dc:creator>
  <cp:lastModifiedBy>EduWeb Planner</cp:lastModifiedBy>
  <cp:revision>1</cp:revision>
  <dcterms:created xsi:type="dcterms:W3CDTF">2026-06-22T22:58:49Z</dcterms:created>
  <dcterms:modified xsi:type="dcterms:W3CDTF">2026-06-22T22:58:49Z</dcterms:modified>
</cp:coreProperties>
</file>