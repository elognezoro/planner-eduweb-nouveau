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4583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8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1417320" cy="1417320"/>
          </a:xfrm>
          <a:prstGeom prst="ellipse">
            <a:avLst/>
          </a:prstGeom>
          <a:solidFill>
            <a:srgbClr val="60C090"/>
          </a:solidFill>
          <a:ln w="31750">
            <a:solidFill>
              <a:srgbClr val="F8B0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77724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M7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21992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200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8892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 positionnement de l'école catholique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605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Conclusion §229-245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7091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B6E1C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doctrine au livrable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Objectifs &amp; ancrage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425196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51790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Objectifs (Bloom)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4983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Hiérarchiser les priorités d'action.</a:t>
            </a:r>
            <a:endParaRPr lang="en-US" sz="20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Rédiger la charte et le plan d'action.</a:t>
            </a:r>
            <a:endParaRPr lang="en-US" sz="20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Présenter le dispositif aux autorités.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45352" y="1371600"/>
            <a:ext cx="5394960" cy="4251960"/>
          </a:xfrm>
          <a:prstGeom prst="roundRect">
            <a:avLst>
              <a:gd name="adj" fmla="val 2151"/>
            </a:avLst>
          </a:prstGeom>
          <a:solidFill>
            <a:srgbClr val="385050"/>
          </a:solidFill>
          <a:ln/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73952" y="1517904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Ancrage magistériel &amp; biblique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519672" y="2011680"/>
            <a:ext cx="4892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§236-240 : les 4 appels du « sage architecte ».</a:t>
            </a:r>
            <a:endParaRPr lang="en-US" sz="20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§241 : Néhémie — les « chantiers de l'histoire ».</a:t>
            </a:r>
            <a:endParaRPr lang="en-US" sz="20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§243-245 : le Magnificat. 1 Co 3,10 · Lc 1,46-55.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L'essentiel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453384" cy="384048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645920"/>
            <a:ext cx="658368" cy="658368"/>
          </a:xfrm>
          <a:prstGeom prst="ellipse">
            <a:avLst/>
          </a:prstGeom>
          <a:solidFill>
            <a:srgbClr val="60C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6459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✝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423160"/>
            <a:ext cx="2868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Sage architecte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944368"/>
            <a:ext cx="290474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Vérité, éducation, relations, justice et paix (§237-240).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67784" y="1371600"/>
            <a:ext cx="3453384" cy="384048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0392" y="1645920"/>
            <a:ext cx="658368" cy="658368"/>
          </a:xfrm>
          <a:prstGeom prst="ellipse">
            <a:avLst/>
          </a:prstGeom>
          <a:solidFill>
            <a:srgbClr val="F8B04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0392" y="16459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🧱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660392" y="2423160"/>
            <a:ext cx="2868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Comme Néhémie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660392" y="2944368"/>
            <a:ext cx="290474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 bâtisseurs qui relèvent ce qui s'est écroulé (§241).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186928" y="1371600"/>
            <a:ext cx="3453384" cy="384048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79536" y="1645920"/>
            <a:ext cx="658368" cy="658368"/>
          </a:xfrm>
          <a:prstGeom prst="ellipse">
            <a:avLst/>
          </a:prstGeom>
          <a:solidFill>
            <a:srgbClr val="60C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79536" y="16459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🎵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479536" y="2423160"/>
            <a:ext cx="2868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Magnificat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8479536" y="2944368"/>
            <a:ext cx="290474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Juger « avec les yeux des petits » (§244).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Les 7 engagements de l'école catholique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012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doctrine à la praxis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545336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5453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417320"/>
            <a:ext cx="9994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 Personne d'abord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dignité prime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240487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532888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5328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404872"/>
            <a:ext cx="9994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2. Discernement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quand ne pas utiliser l'IA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3924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520440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5204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392424"/>
            <a:ext cx="9994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3-4. Attention &amp; mineurs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sobriété, protection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437997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4507992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45079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379976"/>
            <a:ext cx="9994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5-7. Justice, transparence, alliance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inclusion · recours · partenariat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Activités d'apprentissage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13916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139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417320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Atelier </a:t>
            </a:r>
            <a:r>
              <a:rPr lang="en-US" sz="2000" b="1" dirty="0" err="1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certificatif</a:t>
            </a: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</a:t>
            </a:r>
            <a:b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</a:br>
            <a:r>
              <a:rPr lang="en-US" sz="2000" dirty="0" err="1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Charte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+ Plan d'action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738628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7386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542032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Simulation  </a:t>
            </a:r>
            <a:b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</a:br>
            <a:r>
              <a:rPr lang="en-US" sz="2000" dirty="0" err="1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présentation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aux autorités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45352" y="141732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28232" y="1613916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28232" y="16139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159752" y="1417320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 err="1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Clôture</a:t>
            </a: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</a:t>
            </a:r>
            <a:b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</a:b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Magnificat — « ma pierre »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45352" y="2542032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28232" y="2738628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28232" y="27386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159752" y="2542032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Badge  </a:t>
            </a:r>
            <a:b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</a:b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« Discernement IA &amp; DSE »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Exercice-type &amp; à retenir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681228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6355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QCM  </a:t>
            </a:r>
            <a:r>
              <a:rPr lang="en-US" sz="2000" b="1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Les 4 appels du « sage architecte » (§237-240) :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" y="2542032"/>
            <a:ext cx="6355080" cy="658368"/>
          </a:xfrm>
          <a:prstGeom prst="roundRect">
            <a:avLst>
              <a:gd name="adj" fmla="val 8333"/>
            </a:avLst>
          </a:prstGeom>
          <a:solidFill>
            <a:srgbClr val="E4F4EC"/>
          </a:solidFill>
          <a:ln w="19050">
            <a:solidFill>
              <a:srgbClr val="60C0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2542032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542032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Vérité · éducation · relations · paix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77240" y="3300984"/>
            <a:ext cx="6355080" cy="658368"/>
          </a:xfrm>
          <a:prstGeom prst="roundRect">
            <a:avLst>
              <a:gd name="adj" fmla="val 8333"/>
            </a:avLst>
          </a:prstGeom>
          <a:solidFill>
            <a:srgbClr val="F3F6F5"/>
          </a:solidFill>
          <a:ln w="12700">
            <a:solidFill>
              <a:srgbClr val="D9E2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3300984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○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300984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Efficacité · rapidité · profit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77240" y="4059936"/>
            <a:ext cx="6355080" cy="658368"/>
          </a:xfrm>
          <a:prstGeom prst="roundRect">
            <a:avLst>
              <a:gd name="adj" fmla="val 8333"/>
            </a:avLst>
          </a:prstGeom>
          <a:solidFill>
            <a:srgbClr val="F3F6F5"/>
          </a:solidFill>
          <a:ln w="12700">
            <a:solidFill>
              <a:srgbClr val="D9E2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059936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○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059936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Silence · solitude · repli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77240" y="4818888"/>
            <a:ext cx="6355080" cy="658368"/>
          </a:xfrm>
          <a:prstGeom prst="roundRect">
            <a:avLst>
              <a:gd name="adj" fmla="val 8333"/>
            </a:avLst>
          </a:prstGeom>
          <a:solidFill>
            <a:srgbClr val="F3F6F5"/>
          </a:solidFill>
          <a:ln w="12700">
            <a:solidFill>
              <a:srgbClr val="D9E2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4818888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○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818888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Disruption · scaling · monétisation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543800" y="1325880"/>
            <a:ext cx="4114800" cy="4343400"/>
          </a:xfrm>
          <a:prstGeom prst="roundRect">
            <a:avLst>
              <a:gd name="adj" fmla="val 2222"/>
            </a:avLst>
          </a:prstGeom>
          <a:solidFill>
            <a:srgbClr val="385050"/>
          </a:solidFill>
          <a:ln/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772400" y="15361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À RETENIR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2103120"/>
            <a:ext cx="3657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« Que chacun prenne garde à la manière dont il bâtit » (1 Co 3,10). Le livrable : une charte et un plan qui font de l'école une bâtisseuse de communion.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</Words>
  <Application>Microsoft Office PowerPoint</Application>
  <PresentationFormat>Grand écran</PresentationFormat>
  <Paragraphs>67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Century Gothic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EduWeb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Formation Magnifica Humanitas</dc:subject>
  <dc:creator>EduWeb</dc:creator>
  <cp:lastModifiedBy>Elogne ZORO</cp:lastModifiedBy>
  <cp:revision>2</cp:revision>
  <dcterms:created xsi:type="dcterms:W3CDTF">2026-08-27T16:25:58Z</dcterms:created>
  <dcterms:modified xsi:type="dcterms:W3CDTF">2026-08-27T17:41:13Z</dcterms:modified>
</cp:coreProperties>
</file>